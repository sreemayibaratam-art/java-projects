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64" r:id="rId5"/>
    <p:sldId id="269" r:id="rId6"/>
    <p:sldId id="259" r:id="rId7"/>
    <p:sldId id="260" r:id="rId8"/>
    <p:sldId id="263" r:id="rId9"/>
    <p:sldId id="265" r:id="rId10"/>
    <p:sldId id="267" r:id="rId11"/>
    <p:sldId id="262" r:id="rId12"/>
    <p:sldId id="266" r:id="rId13"/>
  </p:sldIdLst>
  <p:sldSz cx="12192000" cy="6858000"/>
  <p:notesSz cx="6858000" cy="12192000"/>
  <p:embeddedFontLst>
    <p:embeddedFont>
      <p:font typeface="Arial Black" panose="020B0A04020102020204" pitchFamily="34" charset="0"/>
      <p:bold r:id="rId15"/>
    </p:embeddedFont>
    <p:embeddedFont>
      <p:font typeface="Bahnschrift Light" panose="020B0502040204020203" pitchFamily="34" charset="0"/>
      <p:regular r:id="rId16"/>
    </p:embeddedFont>
    <p:embeddedFont>
      <p:font typeface="Bookman Old Style" panose="02050604050505020204" pitchFamily="18" charset="0"/>
      <p:regular r:id="rId17"/>
      <p:bold r:id="rId18"/>
      <p:italic r:id="rId19"/>
      <p:boldItalic r:id="rId20"/>
    </p:embeddedFont>
    <p:embeddedFont>
      <p:font typeface="Microsoft YaHei UI Light" panose="020B0502040204020203" pitchFamily="34" charset="-122"/>
      <p:regular r:id="rId21"/>
    </p:embeddedFont>
    <p:embeddedFont>
      <p:font typeface="Mukta Bold" panose="020B0604020202020204" charset="0"/>
      <p:regular r:id="rId22"/>
    </p:embeddedFont>
    <p:embeddedFont>
      <p:font typeface="Mukta Light" panose="020B0604020202020204" charset="0"/>
      <p:regular r:id="rId23"/>
    </p:embeddedFont>
    <p:embeddedFont>
      <p:font typeface="Prompt Light" panose="00000400000000000000" pitchFamily="2" charset="-34"/>
      <p:regular r:id="rId24"/>
    </p:embeddedFont>
    <p:embeddedFont>
      <p:font typeface="Prompt Medium" panose="00000600000000000000" pitchFamily="2" charset="-34"/>
      <p:regular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A4E6"/>
    <a:srgbClr val="AF7C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576" autoAdjust="0"/>
  </p:normalViewPr>
  <p:slideViewPr>
    <p:cSldViewPr snapToGrid="0" snapToObjects="1">
      <p:cViewPr varScale="1">
        <p:scale>
          <a:sx n="90" d="100"/>
          <a:sy n="90" d="100"/>
        </p:scale>
        <p:origin x="370"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5349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1ED23-D65F-B5FB-660C-4DA50CC39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DFF94F-4A2E-BC61-6CE6-08385E3DE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A4606-B6A6-BE04-C07A-EAD87F8E8D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9D8AAA-5770-1CD9-DB0A-1E8AB4C95BA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1438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20012" y="1471934"/>
            <a:ext cx="10751670" cy="457101"/>
          </a:xfrm>
          <a:prstGeom prst="rect">
            <a:avLst/>
          </a:prstGeom>
          <a:noFill/>
          <a:ln/>
        </p:spPr>
        <p:txBody>
          <a:bodyPr wrap="none" lIns="0" tIns="0" rIns="0" bIns="0" rtlCol="0" anchor="t"/>
          <a:lstStyle/>
          <a:p>
            <a:pPr marL="0" indent="0" algn="l">
              <a:lnSpc>
                <a:spcPct val="104000"/>
              </a:lnSpc>
              <a:buNone/>
            </a:pPr>
            <a:r>
              <a:rPr lang="en-US" sz="4000" dirty="0">
                <a:solidFill>
                  <a:srgbClr val="C6BFEE"/>
                </a:solidFill>
                <a:latin typeface="Prompt Medium" pitchFamily="34" charset="0"/>
                <a:ea typeface="Prompt Medium" pitchFamily="34" charset="-122"/>
                <a:cs typeface="Prompt Medium" pitchFamily="34" charset="-120"/>
              </a:rPr>
              <a:t>CAPSTONE PROJECT</a:t>
            </a:r>
            <a:endParaRPr lang="en-US" sz="4000" dirty="0"/>
          </a:p>
        </p:txBody>
      </p:sp>
      <p:sp>
        <p:nvSpPr>
          <p:cNvPr id="3" name="Text 1"/>
          <p:cNvSpPr/>
          <p:nvPr/>
        </p:nvSpPr>
        <p:spPr>
          <a:xfrm>
            <a:off x="720012" y="2253159"/>
            <a:ext cx="10751670" cy="571500"/>
          </a:xfrm>
          <a:prstGeom prst="rect">
            <a:avLst/>
          </a:prstGeom>
          <a:noFill/>
          <a:ln/>
        </p:spPr>
        <p:txBody>
          <a:bodyPr wrap="none" lIns="0" tIns="0" rIns="0" bIns="0" rtlCol="0" anchor="t"/>
          <a:lstStyle/>
          <a:p>
            <a:pPr marL="0" indent="0" algn="l">
              <a:lnSpc>
                <a:spcPct val="104000"/>
              </a:lnSpc>
              <a:buNone/>
            </a:pPr>
            <a:r>
              <a:rPr lang="en-US" sz="3550" dirty="0">
                <a:solidFill>
                  <a:srgbClr val="C6BFEE"/>
                </a:solidFill>
                <a:latin typeface="Prompt Medium" pitchFamily="34" charset="0"/>
                <a:ea typeface="Prompt Medium" pitchFamily="34" charset="-122"/>
                <a:cs typeface="Prompt Medium" pitchFamily="34" charset="-120"/>
              </a:rPr>
              <a:t>Music Playlist &amp; Listening </a:t>
            </a:r>
          </a:p>
          <a:p>
            <a:pPr marL="0" indent="0" algn="l">
              <a:lnSpc>
                <a:spcPct val="104000"/>
              </a:lnSpc>
              <a:buNone/>
            </a:pPr>
            <a:r>
              <a:rPr lang="en-US" sz="3550" dirty="0">
                <a:solidFill>
                  <a:srgbClr val="C6BFEE"/>
                </a:solidFill>
                <a:latin typeface="Prompt Medium" pitchFamily="34" charset="0"/>
                <a:ea typeface="Prompt Medium" pitchFamily="34" charset="-122"/>
                <a:cs typeface="Prompt Medium" pitchFamily="34" charset="-120"/>
              </a:rPr>
              <a:t>Stats Manager</a:t>
            </a:r>
          </a:p>
          <a:p>
            <a:pPr marL="0" indent="0" algn="l">
              <a:lnSpc>
                <a:spcPct val="104000"/>
              </a:lnSpc>
              <a:buNone/>
            </a:pPr>
            <a:endParaRPr lang="en-US" sz="3550" dirty="0">
              <a:solidFill>
                <a:srgbClr val="C6BFEE"/>
              </a:solidFill>
              <a:latin typeface="Prompt Medium" pitchFamily="34" charset="0"/>
              <a:ea typeface="Prompt Medium" pitchFamily="34" charset="-122"/>
              <a:cs typeface="Prompt Medium" pitchFamily="34" charset="-120"/>
            </a:endParaRPr>
          </a:p>
          <a:p>
            <a:pPr>
              <a:lnSpc>
                <a:spcPct val="133000"/>
              </a:lnSpc>
              <a:spcAft>
                <a:spcPts val="1800"/>
              </a:spcAft>
            </a:pPr>
            <a:r>
              <a:rPr lang="en-US" b="1" dirty="0">
                <a:solidFill>
                  <a:srgbClr val="DAD8E9"/>
                </a:solidFill>
                <a:latin typeface="Mukta Bold" pitchFamily="34" charset="0"/>
                <a:ea typeface="Mukta Bold" pitchFamily="34" charset="-122"/>
                <a:cs typeface="Mukta Bold" pitchFamily="34" charset="-120"/>
              </a:rPr>
              <a:t>2620030390 BARATAM SREEMAYI</a:t>
            </a:r>
            <a:endParaRPr lang="en-US" dirty="0"/>
          </a:p>
          <a:p>
            <a:pPr>
              <a:lnSpc>
                <a:spcPct val="133000"/>
              </a:lnSpc>
              <a:spcAft>
                <a:spcPts val="1800"/>
              </a:spcAft>
            </a:pPr>
            <a:r>
              <a:rPr lang="en-US" b="1" dirty="0">
                <a:solidFill>
                  <a:srgbClr val="DAD8E9"/>
                </a:solidFill>
                <a:latin typeface="Mukta Bold" pitchFamily="34" charset="0"/>
                <a:ea typeface="Mukta Bold" pitchFamily="34" charset="-122"/>
                <a:cs typeface="Mukta Bold" pitchFamily="34" charset="-120"/>
              </a:rPr>
              <a:t>2620030423 M. SAI CHARITA</a:t>
            </a:r>
            <a:endParaRPr lang="en-US" dirty="0"/>
          </a:p>
          <a:p>
            <a:pPr>
              <a:lnSpc>
                <a:spcPct val="133000"/>
              </a:lnSpc>
              <a:spcAft>
                <a:spcPts val="1800"/>
              </a:spcAft>
            </a:pPr>
            <a:r>
              <a:rPr lang="en-US" b="1" dirty="0">
                <a:solidFill>
                  <a:srgbClr val="DAD8E9"/>
                </a:solidFill>
                <a:latin typeface="Mukta Bold" pitchFamily="34" charset="0"/>
                <a:ea typeface="Mukta Bold" pitchFamily="34" charset="-122"/>
                <a:cs typeface="Mukta Bold" pitchFamily="34" charset="-120"/>
              </a:rPr>
              <a:t>SECTION - 2</a:t>
            </a:r>
            <a:endParaRPr lang="en-US" dirty="0"/>
          </a:p>
          <a:p>
            <a:pPr marL="0" indent="0" algn="l">
              <a:lnSpc>
                <a:spcPct val="104000"/>
              </a:lnSpc>
              <a:buNone/>
            </a:pPr>
            <a:endParaRPr lang="en-US" sz="3550" dirty="0">
              <a:solidFill>
                <a:srgbClr val="C6BFEE"/>
              </a:solidFill>
              <a:latin typeface="Prompt Medium" pitchFamily="34" charset="0"/>
              <a:ea typeface="Prompt Medium" pitchFamily="34" charset="-122"/>
              <a:cs typeface="Prompt Medium" pitchFamily="34" charset="-120"/>
            </a:endParaRPr>
          </a:p>
          <a:p>
            <a:pPr marL="0" indent="0" algn="l">
              <a:lnSpc>
                <a:spcPct val="104000"/>
              </a:lnSpc>
              <a:buNone/>
            </a:pPr>
            <a:endParaRPr lang="en-US" sz="3550" dirty="0"/>
          </a:p>
        </p:txBody>
      </p:sp>
      <p:sp>
        <p:nvSpPr>
          <p:cNvPr id="4" name="Text 2"/>
          <p:cNvSpPr/>
          <p:nvPr/>
        </p:nvSpPr>
        <p:spPr>
          <a:xfrm>
            <a:off x="776159" y="2824659"/>
            <a:ext cx="10751670" cy="2010966"/>
          </a:xfrm>
          <a:prstGeom prst="rect">
            <a:avLst/>
          </a:prstGeom>
          <a:noFill/>
          <a:ln/>
        </p:spPr>
        <p:txBody>
          <a:bodyPr wrap="square" lIns="0" tIns="0" rIns="0" bIns="0" rtlCol="0" anchor="t"/>
          <a:lstStyle/>
          <a:p>
            <a:pPr marL="0" indent="0" algn="l">
              <a:lnSpc>
                <a:spcPct val="133000"/>
              </a:lnSpc>
              <a:spcAft>
                <a:spcPts val="1800"/>
              </a:spcAft>
              <a:buNone/>
            </a:pPr>
            <a:endParaRPr lang="en-US" sz="1600" dirty="0"/>
          </a:p>
        </p:txBody>
      </p:sp>
      <p:pic>
        <p:nvPicPr>
          <p:cNvPr id="6" name="Picture 5">
            <a:extLst>
              <a:ext uri="{FF2B5EF4-FFF2-40B4-BE49-F238E27FC236}">
                <a16:creationId xmlns:a16="http://schemas.microsoft.com/office/drawing/2014/main" id="{BB388984-8344-FE69-22EE-ACE873BB544C}"/>
              </a:ext>
            </a:extLst>
          </p:cNvPr>
          <p:cNvPicPr>
            <a:picLocks noChangeAspect="1"/>
          </p:cNvPicPr>
          <p:nvPr/>
        </p:nvPicPr>
        <p:blipFill>
          <a:blip r:embed="rId3"/>
          <a:stretch>
            <a:fillRect/>
          </a:stretch>
        </p:blipFill>
        <p:spPr>
          <a:xfrm>
            <a:off x="6513096" y="1"/>
            <a:ext cx="5678904" cy="6858000"/>
          </a:xfrm>
          <a:prstGeom prst="rect">
            <a:avLst/>
          </a:prstGeom>
        </p:spPr>
      </p:pic>
      <p:pic>
        <p:nvPicPr>
          <p:cNvPr id="8" name="Picture 7">
            <a:extLst>
              <a:ext uri="{FF2B5EF4-FFF2-40B4-BE49-F238E27FC236}">
                <a16:creationId xmlns:a16="http://schemas.microsoft.com/office/drawing/2014/main" id="{A9F01844-14E4-05F2-D5A8-5E8282D395C1}"/>
              </a:ext>
            </a:extLst>
          </p:cNvPr>
          <p:cNvPicPr>
            <a:picLocks noChangeAspect="1"/>
          </p:cNvPicPr>
          <p:nvPr/>
        </p:nvPicPr>
        <p:blipFill>
          <a:blip r:embed="rId4"/>
          <a:stretch>
            <a:fillRect/>
          </a:stretch>
        </p:blipFill>
        <p:spPr>
          <a:xfrm>
            <a:off x="236075" y="230783"/>
            <a:ext cx="2176925" cy="895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0012" y="702766"/>
            <a:ext cx="10751670" cy="455414"/>
          </a:xfrm>
          <a:prstGeom prst="rect">
            <a:avLst/>
          </a:prstGeom>
          <a:noFill/>
          <a:ln/>
        </p:spPr>
        <p:txBody>
          <a:bodyPr wrap="none" lIns="0" tIns="0" rIns="0" bIns="0" rtlCol="0" anchor="t"/>
          <a:lstStyle/>
          <a:p>
            <a:pPr marL="0" indent="0" algn="ctr">
              <a:lnSpc>
                <a:spcPct val="104000"/>
              </a:lnSpc>
              <a:buNone/>
            </a:pPr>
            <a:endParaRPr lang="en-US" sz="6000" dirty="0"/>
          </a:p>
        </p:txBody>
      </p:sp>
      <p:sp>
        <p:nvSpPr>
          <p:cNvPr id="4" name="Text 1"/>
          <p:cNvSpPr/>
          <p:nvPr/>
        </p:nvSpPr>
        <p:spPr>
          <a:xfrm>
            <a:off x="7974805" y="1471712"/>
            <a:ext cx="3503128" cy="2355056"/>
          </a:xfrm>
          <a:prstGeom prst="rect">
            <a:avLst/>
          </a:prstGeom>
          <a:noFill/>
          <a:ln/>
        </p:spPr>
        <p:txBody>
          <a:bodyPr wrap="square" lIns="0" tIns="0" rIns="0" bIns="0" rtlCol="0" anchor="t">
            <a:noAutofit/>
          </a:bodyPr>
          <a:lstStyle/>
          <a:p>
            <a:pPr marL="0" indent="0" algn="l">
              <a:lnSpc>
                <a:spcPct val="120000"/>
              </a:lnSpc>
              <a:spcAft>
                <a:spcPts val="900"/>
              </a:spcAft>
              <a:buNone/>
            </a:pPr>
            <a:endParaRPr lang="en-US" sz="1400" dirty="0"/>
          </a:p>
        </p:txBody>
      </p:sp>
      <p:sp>
        <p:nvSpPr>
          <p:cNvPr id="5" name="Text 2"/>
          <p:cNvSpPr/>
          <p:nvPr/>
        </p:nvSpPr>
        <p:spPr>
          <a:xfrm>
            <a:off x="7974805" y="3944342"/>
            <a:ext cx="3503128" cy="797917"/>
          </a:xfrm>
          <a:prstGeom prst="rect">
            <a:avLst/>
          </a:prstGeom>
          <a:noFill/>
          <a:ln/>
        </p:spPr>
        <p:txBody>
          <a:bodyPr wrap="square" lIns="0" tIns="0" rIns="0" bIns="0" rtlCol="0" anchor="t">
            <a:normAutofit/>
          </a:bodyPr>
          <a:lstStyle/>
          <a:p>
            <a:pPr marL="254000" indent="-254000" algn="l">
              <a:lnSpc>
                <a:spcPct val="120000"/>
              </a:lnSpc>
              <a:buSzPct val="100000"/>
              <a:buChar char="•"/>
            </a:pPr>
            <a:endParaRPr lang="en-US" sz="1400" dirty="0"/>
          </a:p>
        </p:txBody>
      </p:sp>
      <p:sp>
        <p:nvSpPr>
          <p:cNvPr id="6" name="Text 3"/>
          <p:cNvSpPr/>
          <p:nvPr/>
        </p:nvSpPr>
        <p:spPr>
          <a:xfrm>
            <a:off x="7974805" y="4859834"/>
            <a:ext cx="3503128" cy="1177727"/>
          </a:xfrm>
          <a:prstGeom prst="rect">
            <a:avLst/>
          </a:prstGeom>
          <a:noFill/>
          <a:ln/>
        </p:spPr>
        <p:txBody>
          <a:bodyPr wrap="square" lIns="0" tIns="0" rIns="0" bIns="0" rtlCol="0" anchor="t">
            <a:normAutofit/>
          </a:bodyPr>
          <a:lstStyle/>
          <a:p>
            <a:pPr marL="0" indent="0" algn="l">
              <a:lnSpc>
                <a:spcPct val="120000"/>
              </a:lnSpc>
              <a:buNone/>
            </a:pPr>
            <a:endParaRPr lang="en-US" sz="1250" dirty="0"/>
          </a:p>
        </p:txBody>
      </p:sp>
      <p:pic>
        <p:nvPicPr>
          <p:cNvPr id="8" name="Picture 7">
            <a:extLst>
              <a:ext uri="{FF2B5EF4-FFF2-40B4-BE49-F238E27FC236}">
                <a16:creationId xmlns:a16="http://schemas.microsoft.com/office/drawing/2014/main" id="{47365392-3F03-6D7C-0DF8-A6EADF1198BC}"/>
              </a:ext>
            </a:extLst>
          </p:cNvPr>
          <p:cNvPicPr>
            <a:picLocks noChangeAspect="1"/>
          </p:cNvPicPr>
          <p:nvPr/>
        </p:nvPicPr>
        <p:blipFill>
          <a:blip r:embed="rId3"/>
          <a:stretch>
            <a:fillRect/>
          </a:stretch>
        </p:blipFill>
        <p:spPr>
          <a:xfrm>
            <a:off x="597569" y="1471712"/>
            <a:ext cx="4207042" cy="4255320"/>
          </a:xfrm>
          <a:prstGeom prst="rect">
            <a:avLst/>
          </a:prstGeom>
        </p:spPr>
      </p:pic>
      <p:sp>
        <p:nvSpPr>
          <p:cNvPr id="10" name="TextBox 9">
            <a:extLst>
              <a:ext uri="{FF2B5EF4-FFF2-40B4-BE49-F238E27FC236}">
                <a16:creationId xmlns:a16="http://schemas.microsoft.com/office/drawing/2014/main" id="{13453D27-4B7D-8DE6-1892-0631862CACCF}"/>
              </a:ext>
            </a:extLst>
          </p:cNvPr>
          <p:cNvSpPr txBox="1"/>
          <p:nvPr/>
        </p:nvSpPr>
        <p:spPr>
          <a:xfrm>
            <a:off x="5271408" y="1879937"/>
            <a:ext cx="6096000" cy="2862322"/>
          </a:xfrm>
          <a:prstGeom prst="rect">
            <a:avLst/>
          </a:prstGeom>
          <a:noFill/>
        </p:spPr>
        <p:txBody>
          <a:bodyPr wrap="square">
            <a:spAutoFit/>
          </a:bodyPr>
          <a:lstStyle/>
          <a:p>
            <a:pPr algn="r"/>
            <a:r>
              <a:rPr lang="en-IN" dirty="0">
                <a:solidFill>
                  <a:schemeClr val="bg1"/>
                </a:solidFill>
                <a:latin typeface="Bookman Old Style" panose="02050604050505020204" pitchFamily="18" charset="0"/>
                <a:ea typeface="SimSun-ExtG" panose="02010609060101010101" pitchFamily="49" charset="-122"/>
              </a:rPr>
              <a:t>The </a:t>
            </a:r>
            <a:r>
              <a:rPr lang="en-IN" b="1" dirty="0">
                <a:solidFill>
                  <a:schemeClr val="bg1"/>
                </a:solidFill>
                <a:latin typeface="Bookman Old Style" panose="02050604050505020204" pitchFamily="18" charset="0"/>
                <a:ea typeface="SimSun-ExtG" panose="02010609060101010101" pitchFamily="49" charset="-122"/>
              </a:rPr>
              <a:t>Music Playlist and Listening-Stats Manager</a:t>
            </a:r>
            <a:r>
              <a:rPr lang="en-IN" dirty="0">
                <a:solidFill>
                  <a:schemeClr val="bg1"/>
                </a:solidFill>
                <a:latin typeface="Bookman Old Style" panose="02050604050505020204" pitchFamily="18" charset="0"/>
                <a:ea typeface="SimSun-ExtG" panose="02010609060101010101" pitchFamily="49" charset="-122"/>
              </a:rPr>
              <a:t> is a simple Java-based application used to manage songs and track listening habits. It allows users to add songs, store song details, display songs, and record the number of times each song is played.  It provides an easy way to organise music and understand which songs are played the most. In the future, features like </a:t>
            </a:r>
            <a:r>
              <a:rPr lang="en-IN" b="1" dirty="0">
                <a:solidFill>
                  <a:schemeClr val="bg1"/>
                </a:solidFill>
                <a:latin typeface="Bookman Old Style" panose="02050604050505020204" pitchFamily="18" charset="0"/>
                <a:ea typeface="SimSun-ExtG" panose="02010609060101010101" pitchFamily="49" charset="-122"/>
              </a:rPr>
              <a:t>song search, favourites, sorting, multiple playlists, and a graphical interface</a:t>
            </a:r>
            <a:r>
              <a:rPr lang="en-IN" dirty="0">
                <a:solidFill>
                  <a:schemeClr val="bg1"/>
                </a:solidFill>
                <a:latin typeface="Bookman Old Style" panose="02050604050505020204" pitchFamily="18" charset="0"/>
                <a:ea typeface="SimSun-ExtG" panose="02010609060101010101" pitchFamily="49" charset="-122"/>
              </a:rPr>
              <a:t> can be added</a:t>
            </a:r>
            <a:r>
              <a:rPr lang="en-IN" dirty="0">
                <a:solidFill>
                  <a:schemeClr val="bg1"/>
                </a:solidFill>
                <a:latin typeface="Bookman Old Style" panose="02050604050505020204" pitchFamily="18" charset="0"/>
              </a:rPr>
              <a:t>.</a:t>
            </a:r>
          </a:p>
        </p:txBody>
      </p:sp>
      <p:sp>
        <p:nvSpPr>
          <p:cNvPr id="7" name="TextBox 6">
            <a:extLst>
              <a:ext uri="{FF2B5EF4-FFF2-40B4-BE49-F238E27FC236}">
                <a16:creationId xmlns:a16="http://schemas.microsoft.com/office/drawing/2014/main" id="{3CC0A255-1B1C-A1C5-7070-73AC819E92F7}"/>
              </a:ext>
            </a:extLst>
          </p:cNvPr>
          <p:cNvSpPr txBox="1"/>
          <p:nvPr/>
        </p:nvSpPr>
        <p:spPr>
          <a:xfrm>
            <a:off x="2701090" y="301541"/>
            <a:ext cx="6096000" cy="1052596"/>
          </a:xfrm>
          <a:prstGeom prst="rect">
            <a:avLst/>
          </a:prstGeom>
          <a:noFill/>
        </p:spPr>
        <p:txBody>
          <a:bodyPr wrap="square">
            <a:spAutoFit/>
          </a:bodyPr>
          <a:lstStyle/>
          <a:p>
            <a:pPr marL="0" indent="0" algn="ctr">
              <a:lnSpc>
                <a:spcPct val="104000"/>
              </a:lnSpc>
              <a:buNone/>
            </a:pPr>
            <a:r>
              <a:rPr lang="en-US" sz="6000" dirty="0">
                <a:solidFill>
                  <a:srgbClr val="C6BFEE"/>
                </a:solidFill>
                <a:latin typeface="Prompt Medium" pitchFamily="34" charset="0"/>
                <a:ea typeface="Prompt Medium" pitchFamily="34" charset="-122"/>
                <a:cs typeface="Prompt Medium" pitchFamily="34" charset="-120"/>
              </a:rPr>
              <a:t>Abstract</a:t>
            </a:r>
            <a:endParaRPr lang="en-US" sz="6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20012" y="712788"/>
            <a:ext cx="6179784" cy="482203"/>
          </a:xfrm>
          <a:prstGeom prst="rect">
            <a:avLst/>
          </a:prstGeom>
          <a:noFill/>
          <a:ln/>
        </p:spPr>
        <p:txBody>
          <a:bodyPr wrap="none" lIns="0" tIns="0" rIns="0" bIns="0" rtlCol="0" anchor="t"/>
          <a:lstStyle/>
          <a:p>
            <a:pPr marL="0" indent="0" algn="l">
              <a:lnSpc>
                <a:spcPct val="104000"/>
              </a:lnSpc>
              <a:buNone/>
            </a:pPr>
            <a:r>
              <a:rPr lang="en-US" sz="4000" dirty="0">
                <a:solidFill>
                  <a:srgbClr val="C6BFEE"/>
                </a:solidFill>
                <a:latin typeface="Prompt Medium" pitchFamily="34" charset="0"/>
                <a:ea typeface="Prompt Medium" pitchFamily="34" charset="-122"/>
                <a:cs typeface="Prompt Medium" pitchFamily="34" charset="-120"/>
              </a:rPr>
              <a:t>Introduction</a:t>
            </a:r>
            <a:endParaRPr lang="en-US" sz="4000" dirty="0"/>
          </a:p>
        </p:txBody>
      </p:sp>
      <p:sp>
        <p:nvSpPr>
          <p:cNvPr id="4" name="Shape 1"/>
          <p:cNvSpPr/>
          <p:nvPr/>
        </p:nvSpPr>
        <p:spPr>
          <a:xfrm>
            <a:off x="720012" y="1414661"/>
            <a:ext cx="6179784" cy="1200845"/>
          </a:xfrm>
          <a:prstGeom prst="roundRect">
            <a:avLst>
              <a:gd name="adj" fmla="val 6071"/>
            </a:avLst>
          </a:prstGeom>
          <a:solidFill>
            <a:srgbClr val="542C49"/>
          </a:solidFill>
          <a:ln w="6350">
            <a:solidFill>
              <a:srgbClr val="6D4562"/>
            </a:solidFill>
            <a:prstDash val="solid"/>
          </a:ln>
        </p:spPr>
      </p:sp>
      <p:sp>
        <p:nvSpPr>
          <p:cNvPr id="5" name="Text 2"/>
          <p:cNvSpPr/>
          <p:nvPr/>
        </p:nvSpPr>
        <p:spPr>
          <a:xfrm>
            <a:off x="899892" y="1594545"/>
            <a:ext cx="5820026" cy="241102"/>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What It Is</a:t>
            </a:r>
            <a:endParaRPr lang="en-US" sz="1600" dirty="0"/>
          </a:p>
        </p:txBody>
      </p:sp>
      <p:sp>
        <p:nvSpPr>
          <p:cNvPr id="6" name="Text 3"/>
          <p:cNvSpPr/>
          <p:nvPr/>
        </p:nvSpPr>
        <p:spPr>
          <a:xfrm>
            <a:off x="899892" y="1923455"/>
            <a:ext cx="5820026" cy="512167"/>
          </a:xfrm>
          <a:prstGeom prst="rect">
            <a:avLst/>
          </a:prstGeom>
          <a:noFill/>
          <a:ln/>
        </p:spPr>
        <p:txBody>
          <a:bodyPr wrap="square" lIns="0" tIns="0" rIns="0" bIns="0" rtlCol="0" anchor="t">
            <a:noAutofit/>
          </a:bodyPr>
          <a:lstStyle/>
          <a:p>
            <a:pPr marL="0" indent="0" algn="l">
              <a:lnSpc>
                <a:spcPct val="123000"/>
              </a:lnSpc>
              <a:buNone/>
            </a:pPr>
            <a:r>
              <a:rPr lang="en-US" sz="1400" dirty="0">
                <a:solidFill>
                  <a:srgbClr val="DAD8E9"/>
                </a:solidFill>
                <a:latin typeface="Mukta Light" pitchFamily="34" charset="0"/>
                <a:ea typeface="Mukta Light" pitchFamily="34" charset="-122"/>
                <a:cs typeface="Mukta Light" pitchFamily="34" charset="-120"/>
              </a:rPr>
              <a:t>A simple Java-based application to manage songs and track listening habits with ease</a:t>
            </a:r>
            <a:r>
              <a:rPr lang="en-US" sz="1600" dirty="0">
                <a:solidFill>
                  <a:srgbClr val="DAD8E9"/>
                </a:solidFill>
                <a:latin typeface="Mukta Light" pitchFamily="34" charset="0"/>
                <a:ea typeface="Mukta Light" pitchFamily="34" charset="-122"/>
                <a:cs typeface="Mukta Light" pitchFamily="34" charset="-120"/>
              </a:rPr>
              <a:t>.</a:t>
            </a:r>
            <a:endParaRPr lang="en-US" sz="1600" dirty="0"/>
          </a:p>
        </p:txBody>
      </p:sp>
      <p:sp>
        <p:nvSpPr>
          <p:cNvPr id="7" name="Shape 4"/>
          <p:cNvSpPr/>
          <p:nvPr/>
        </p:nvSpPr>
        <p:spPr>
          <a:xfrm>
            <a:off x="720012" y="2770419"/>
            <a:ext cx="6179784" cy="1200845"/>
          </a:xfrm>
          <a:prstGeom prst="roundRect">
            <a:avLst>
              <a:gd name="adj" fmla="val 6071"/>
            </a:avLst>
          </a:prstGeom>
          <a:solidFill>
            <a:srgbClr val="542C49"/>
          </a:solidFill>
          <a:ln w="6350">
            <a:solidFill>
              <a:srgbClr val="6D4562"/>
            </a:solidFill>
            <a:prstDash val="solid"/>
          </a:ln>
        </p:spPr>
      </p:sp>
      <p:sp>
        <p:nvSpPr>
          <p:cNvPr id="8" name="Text 5"/>
          <p:cNvSpPr/>
          <p:nvPr/>
        </p:nvSpPr>
        <p:spPr>
          <a:xfrm>
            <a:off x="899892" y="2941836"/>
            <a:ext cx="5820026" cy="241102"/>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What It Does</a:t>
            </a:r>
            <a:endParaRPr lang="en-US" sz="1600" dirty="0"/>
          </a:p>
        </p:txBody>
      </p:sp>
      <p:sp>
        <p:nvSpPr>
          <p:cNvPr id="9" name="Text 6"/>
          <p:cNvSpPr/>
          <p:nvPr/>
        </p:nvSpPr>
        <p:spPr>
          <a:xfrm>
            <a:off x="899892" y="3270746"/>
            <a:ext cx="5820026" cy="512167"/>
          </a:xfrm>
          <a:prstGeom prst="rect">
            <a:avLst/>
          </a:prstGeom>
          <a:noFill/>
          <a:ln/>
        </p:spPr>
        <p:txBody>
          <a:bodyPr wrap="square" lIns="0" tIns="0" rIns="0" bIns="0" rtlCol="0" anchor="t">
            <a:noAutofit/>
          </a:bodyPr>
          <a:lstStyle/>
          <a:p>
            <a:pPr marL="0" indent="0" algn="l">
              <a:lnSpc>
                <a:spcPct val="123000"/>
              </a:lnSpc>
              <a:buNone/>
            </a:pPr>
            <a:r>
              <a:rPr lang="en-US" sz="1400" dirty="0">
                <a:solidFill>
                  <a:srgbClr val="DAD8E9"/>
                </a:solidFill>
                <a:latin typeface="Mukta Light" pitchFamily="34" charset="0"/>
                <a:ea typeface="Mukta Light" pitchFamily="34" charset="-122"/>
                <a:cs typeface="Mukta Light" pitchFamily="34" charset="-120"/>
              </a:rPr>
              <a:t>Add songs, store song details, display your music collection, and count plays per song.</a:t>
            </a:r>
            <a:endParaRPr lang="en-US" sz="1400" dirty="0"/>
          </a:p>
        </p:txBody>
      </p:sp>
      <p:sp>
        <p:nvSpPr>
          <p:cNvPr id="10" name="Shape 7"/>
          <p:cNvSpPr/>
          <p:nvPr/>
        </p:nvSpPr>
        <p:spPr>
          <a:xfrm>
            <a:off x="720012" y="4109244"/>
            <a:ext cx="6179784" cy="944761"/>
          </a:xfrm>
          <a:prstGeom prst="roundRect">
            <a:avLst>
              <a:gd name="adj" fmla="val 7717"/>
            </a:avLst>
          </a:prstGeom>
          <a:solidFill>
            <a:srgbClr val="542C49"/>
          </a:solidFill>
          <a:ln w="6350">
            <a:solidFill>
              <a:srgbClr val="6D4562"/>
            </a:solidFill>
            <a:prstDash val="solid"/>
          </a:ln>
        </p:spPr>
      </p:sp>
      <p:sp>
        <p:nvSpPr>
          <p:cNvPr id="11" name="Text 8"/>
          <p:cNvSpPr/>
          <p:nvPr/>
        </p:nvSpPr>
        <p:spPr>
          <a:xfrm>
            <a:off x="899892" y="4289127"/>
            <a:ext cx="5820026" cy="241102"/>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How It Works</a:t>
            </a:r>
            <a:endParaRPr lang="en-US" sz="1600" dirty="0"/>
          </a:p>
        </p:txBody>
      </p:sp>
      <p:sp>
        <p:nvSpPr>
          <p:cNvPr id="12" name="Text 9"/>
          <p:cNvSpPr/>
          <p:nvPr/>
        </p:nvSpPr>
        <p:spPr>
          <a:xfrm>
            <a:off x="899892" y="4618038"/>
            <a:ext cx="5820026" cy="256084"/>
          </a:xfrm>
          <a:prstGeom prst="rect">
            <a:avLst/>
          </a:prstGeom>
          <a:noFill/>
          <a:ln/>
        </p:spPr>
        <p:txBody>
          <a:bodyPr wrap="none" lIns="0" tIns="0" rIns="0" bIns="0" rtlCol="0" anchor="t"/>
          <a:lstStyle/>
          <a:p>
            <a:pPr marL="0" indent="0" algn="l">
              <a:lnSpc>
                <a:spcPct val="123000"/>
              </a:lnSpc>
              <a:buNone/>
            </a:pPr>
            <a:r>
              <a:rPr lang="en-US" sz="1400" dirty="0">
                <a:solidFill>
                  <a:srgbClr val="DAD8E9"/>
                </a:solidFill>
                <a:latin typeface="Mukta Light" pitchFamily="34" charset="0"/>
                <a:ea typeface="Mukta Light" pitchFamily="34" charset="-122"/>
                <a:cs typeface="Mukta Light" pitchFamily="34" charset="-120"/>
              </a:rPr>
              <a:t>Built using arrays, loops, conditions, switch statements, operators, and methods</a:t>
            </a:r>
            <a:r>
              <a:rPr lang="en-US" sz="1350" dirty="0">
                <a:solidFill>
                  <a:srgbClr val="DAD8E9"/>
                </a:solidFill>
                <a:latin typeface="Mukta Light" pitchFamily="34" charset="0"/>
                <a:ea typeface="Mukta Light" pitchFamily="34" charset="-122"/>
                <a:cs typeface="Mukta Light" pitchFamily="34" charset="-120"/>
              </a:rPr>
              <a:t>.</a:t>
            </a:r>
            <a:endParaRPr lang="en-US" sz="1350" dirty="0"/>
          </a:p>
        </p:txBody>
      </p:sp>
      <p:sp>
        <p:nvSpPr>
          <p:cNvPr id="13" name="Shape 10"/>
          <p:cNvSpPr/>
          <p:nvPr/>
        </p:nvSpPr>
        <p:spPr>
          <a:xfrm>
            <a:off x="720012" y="5200452"/>
            <a:ext cx="6179784" cy="944761"/>
          </a:xfrm>
          <a:prstGeom prst="roundRect">
            <a:avLst>
              <a:gd name="adj" fmla="val 7717"/>
            </a:avLst>
          </a:prstGeom>
          <a:solidFill>
            <a:srgbClr val="542C49"/>
          </a:solidFill>
          <a:ln w="6350">
            <a:solidFill>
              <a:srgbClr val="6D4562"/>
            </a:solidFill>
            <a:prstDash val="solid"/>
          </a:ln>
        </p:spPr>
      </p:sp>
      <p:sp>
        <p:nvSpPr>
          <p:cNvPr id="14" name="Text 11"/>
          <p:cNvSpPr/>
          <p:nvPr/>
        </p:nvSpPr>
        <p:spPr>
          <a:xfrm>
            <a:off x="899892" y="5380335"/>
            <a:ext cx="5820026" cy="241102"/>
          </a:xfrm>
          <a:prstGeom prst="rect">
            <a:avLst/>
          </a:prstGeom>
          <a:noFill/>
          <a:ln/>
        </p:spPr>
        <p:txBody>
          <a:bodyPr wrap="none" lIns="0" tIns="0" rIns="0" bIns="0" rtlCol="0" anchor="t"/>
          <a:lstStyle/>
          <a:p>
            <a:pPr marL="0" indent="0" algn="l">
              <a:lnSpc>
                <a:spcPct val="104000"/>
              </a:lnSpc>
              <a:buNone/>
            </a:pPr>
            <a:r>
              <a:rPr lang="en-US" sz="1500" dirty="0">
                <a:solidFill>
                  <a:srgbClr val="DAD8E9"/>
                </a:solidFill>
                <a:latin typeface="Prompt Medium" pitchFamily="34" charset="0"/>
                <a:ea typeface="Prompt Medium" pitchFamily="34" charset="-122"/>
                <a:cs typeface="Prompt Medium" pitchFamily="34" charset="-120"/>
              </a:rPr>
              <a:t>Where It Goes</a:t>
            </a:r>
            <a:endParaRPr lang="en-US" sz="1500" dirty="0"/>
          </a:p>
        </p:txBody>
      </p:sp>
      <p:sp>
        <p:nvSpPr>
          <p:cNvPr id="15" name="Text 12"/>
          <p:cNvSpPr/>
          <p:nvPr/>
        </p:nvSpPr>
        <p:spPr>
          <a:xfrm>
            <a:off x="899892" y="5709245"/>
            <a:ext cx="5820026" cy="256084"/>
          </a:xfrm>
          <a:prstGeom prst="rect">
            <a:avLst/>
          </a:prstGeom>
          <a:noFill/>
          <a:ln/>
        </p:spPr>
        <p:txBody>
          <a:bodyPr wrap="none" lIns="0" tIns="0" rIns="0" bIns="0" rtlCol="0" anchor="t"/>
          <a:lstStyle/>
          <a:p>
            <a:pPr marL="0" indent="0" algn="l">
              <a:lnSpc>
                <a:spcPct val="123000"/>
              </a:lnSpc>
              <a:buNone/>
            </a:pPr>
            <a:r>
              <a:rPr lang="en-US" sz="1400" dirty="0">
                <a:solidFill>
                  <a:srgbClr val="DAD8E9"/>
                </a:solidFill>
                <a:latin typeface="Mukta Light" pitchFamily="34" charset="0"/>
                <a:ea typeface="Mukta Light" pitchFamily="34" charset="-122"/>
                <a:cs typeface="Mukta Light" pitchFamily="34" charset="-120"/>
              </a:rPr>
              <a:t>Future scope includes song search, sorting, multiple playlists, favourites, and a GUI.</a:t>
            </a:r>
            <a:endParaRPr lang="en-US" sz="1400" dirty="0"/>
          </a:p>
        </p:txBody>
      </p:sp>
      <p:pic>
        <p:nvPicPr>
          <p:cNvPr id="21" name="Picture 20">
            <a:extLst>
              <a:ext uri="{FF2B5EF4-FFF2-40B4-BE49-F238E27FC236}">
                <a16:creationId xmlns:a16="http://schemas.microsoft.com/office/drawing/2014/main" id="{50022E89-F5FF-52B4-4256-3593CD908A62}"/>
              </a:ext>
            </a:extLst>
          </p:cNvPr>
          <p:cNvPicPr>
            <a:picLocks noChangeAspect="1"/>
          </p:cNvPicPr>
          <p:nvPr/>
        </p:nvPicPr>
        <p:blipFill>
          <a:blip r:embed="rId3"/>
          <a:stretch>
            <a:fillRect/>
          </a:stretch>
        </p:blipFill>
        <p:spPr>
          <a:xfrm>
            <a:off x="7274138" y="1425740"/>
            <a:ext cx="4917862" cy="47305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20012" y="1137245"/>
            <a:ext cx="10751670" cy="571500"/>
          </a:xfrm>
          <a:prstGeom prst="rect">
            <a:avLst/>
          </a:prstGeom>
          <a:noFill/>
          <a:ln/>
        </p:spPr>
        <p:txBody>
          <a:bodyPr wrap="none" lIns="0" tIns="0" rIns="0" bIns="0" rtlCol="0" anchor="t"/>
          <a:lstStyle/>
          <a:p>
            <a:pPr marL="0" indent="0" algn="l">
              <a:lnSpc>
                <a:spcPct val="104000"/>
              </a:lnSpc>
              <a:buNone/>
            </a:pPr>
            <a:r>
              <a:rPr lang="en-US" sz="3550" dirty="0">
                <a:solidFill>
                  <a:srgbClr val="C6BFEE"/>
                </a:solidFill>
                <a:latin typeface="Prompt Medium" pitchFamily="34" charset="0"/>
                <a:ea typeface="Prompt Medium" pitchFamily="34" charset="-122"/>
                <a:cs typeface="Prompt Medium" pitchFamily="34" charset="-120"/>
              </a:rPr>
              <a:t>Course Outcomes Covered</a:t>
            </a:r>
            <a:endParaRPr lang="en-US" sz="3550" dirty="0"/>
          </a:p>
        </p:txBody>
      </p:sp>
      <p:sp>
        <p:nvSpPr>
          <p:cNvPr id="3" name="Shape 1"/>
          <p:cNvSpPr/>
          <p:nvPr/>
        </p:nvSpPr>
        <p:spPr>
          <a:xfrm>
            <a:off x="720012" y="2120205"/>
            <a:ext cx="3446773" cy="3600549"/>
          </a:xfrm>
          <a:prstGeom prst="roundRect">
            <a:avLst>
              <a:gd name="adj" fmla="val 2507"/>
            </a:avLst>
          </a:prstGeom>
          <a:solidFill>
            <a:srgbClr val="542C49"/>
          </a:solidFill>
          <a:ln w="12700">
            <a:solidFill>
              <a:srgbClr val="6D4562"/>
            </a:solidFill>
            <a:prstDash val="solid"/>
          </a:ln>
        </p:spPr>
      </p:sp>
      <p:sp>
        <p:nvSpPr>
          <p:cNvPr id="4" name="Shape 2"/>
          <p:cNvSpPr/>
          <p:nvPr/>
        </p:nvSpPr>
        <p:spPr>
          <a:xfrm>
            <a:off x="938387" y="2338586"/>
            <a:ext cx="617125" cy="617141"/>
          </a:xfrm>
          <a:prstGeom prst="ellipse">
            <a:avLst/>
          </a:prstGeom>
          <a:solidFill>
            <a:srgbClr val="A95B95"/>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8047" y="2508250"/>
            <a:ext cx="277706" cy="277713"/>
          </a:xfrm>
          <a:prstGeom prst="rect">
            <a:avLst/>
          </a:prstGeom>
        </p:spPr>
      </p:pic>
      <p:sp>
        <p:nvSpPr>
          <p:cNvPr id="6" name="Text 3"/>
          <p:cNvSpPr/>
          <p:nvPr/>
        </p:nvSpPr>
        <p:spPr>
          <a:xfrm>
            <a:off x="938387" y="3161407"/>
            <a:ext cx="3010023" cy="571500"/>
          </a:xfrm>
          <a:prstGeom prst="rect">
            <a:avLst/>
          </a:prstGeom>
          <a:noFill/>
          <a:ln/>
        </p:spPr>
        <p:txBody>
          <a:bodyPr wrap="square" lIns="0" tIns="0" rIns="0" bIns="0" rtlCol="0" anchor="t">
            <a:normAutofit/>
          </a:bodyPr>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CO1 — Data Types &amp; Operators</a:t>
            </a:r>
            <a:endParaRPr lang="en-US" sz="1750" dirty="0"/>
          </a:p>
        </p:txBody>
      </p:sp>
      <p:sp>
        <p:nvSpPr>
          <p:cNvPr id="7" name="Text 4"/>
          <p:cNvSpPr/>
          <p:nvPr/>
        </p:nvSpPr>
        <p:spPr>
          <a:xfrm>
            <a:off x="938387" y="3856335"/>
            <a:ext cx="3010023" cy="164603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Aptos" panose="020B0004020202020204" pitchFamily="34" charset="0"/>
                <a:ea typeface="Mukta Light" pitchFamily="34" charset="-122"/>
                <a:cs typeface="Mukta Light" pitchFamily="34" charset="-120"/>
              </a:rPr>
              <a:t>Data types and operators are used to store song details such as name, duration, and play count, and to perform calculations on listening statistics.</a:t>
            </a:r>
            <a:endParaRPr lang="en-US" sz="1600" dirty="0">
              <a:latin typeface="Aptos" panose="020B0004020202020204" pitchFamily="34" charset="0"/>
            </a:endParaRPr>
          </a:p>
        </p:txBody>
      </p:sp>
      <p:sp>
        <p:nvSpPr>
          <p:cNvPr id="8" name="Shape 5"/>
          <p:cNvSpPr/>
          <p:nvPr/>
        </p:nvSpPr>
        <p:spPr>
          <a:xfrm>
            <a:off x="4372461" y="2120205"/>
            <a:ext cx="3446773" cy="3600549"/>
          </a:xfrm>
          <a:prstGeom prst="roundRect">
            <a:avLst>
              <a:gd name="adj" fmla="val 2507"/>
            </a:avLst>
          </a:prstGeom>
          <a:solidFill>
            <a:srgbClr val="542C49"/>
          </a:solidFill>
          <a:ln w="12700">
            <a:solidFill>
              <a:srgbClr val="6D4562"/>
            </a:solidFill>
            <a:prstDash val="solid"/>
          </a:ln>
        </p:spPr>
      </p:sp>
      <p:sp>
        <p:nvSpPr>
          <p:cNvPr id="9" name="Shape 6"/>
          <p:cNvSpPr/>
          <p:nvPr/>
        </p:nvSpPr>
        <p:spPr>
          <a:xfrm>
            <a:off x="4590836" y="2338586"/>
            <a:ext cx="617125" cy="617141"/>
          </a:xfrm>
          <a:prstGeom prst="ellipse">
            <a:avLst/>
          </a:prstGeom>
          <a:solidFill>
            <a:srgbClr val="A95B95"/>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0496" y="2508250"/>
            <a:ext cx="277706" cy="277713"/>
          </a:xfrm>
          <a:prstGeom prst="rect">
            <a:avLst/>
          </a:prstGeom>
        </p:spPr>
      </p:pic>
      <p:sp>
        <p:nvSpPr>
          <p:cNvPr id="11" name="Text 7"/>
          <p:cNvSpPr/>
          <p:nvPr/>
        </p:nvSpPr>
        <p:spPr>
          <a:xfrm>
            <a:off x="4590836" y="3161407"/>
            <a:ext cx="3010023" cy="285750"/>
          </a:xfrm>
          <a:prstGeom prst="rect">
            <a:avLst/>
          </a:prstGeom>
          <a:noFill/>
          <a:ln/>
        </p:spPr>
        <p:txBody>
          <a:bodyPr wrap="none" lIns="0" tIns="0" rIns="0" bIns="0" rtlCol="0" anchor="t"/>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CO2 — Control Structures</a:t>
            </a:r>
            <a:endParaRPr lang="en-US" sz="1750" dirty="0"/>
          </a:p>
        </p:txBody>
      </p:sp>
      <p:sp>
        <p:nvSpPr>
          <p:cNvPr id="12" name="Text 8"/>
          <p:cNvSpPr/>
          <p:nvPr/>
        </p:nvSpPr>
        <p:spPr>
          <a:xfrm>
            <a:off x="4590836" y="3570585"/>
            <a:ext cx="3010023" cy="164603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Aptos" panose="020B0004020202020204" pitchFamily="34" charset="0"/>
                <a:ea typeface="Mukta Light" pitchFamily="34" charset="-122"/>
                <a:cs typeface="Mukta Light" pitchFamily="34" charset="-120"/>
              </a:rPr>
              <a:t>Conditions, loops, switch statements, and break are used to control program flow, handle user choices, and manage the interactive menu system.</a:t>
            </a:r>
            <a:endParaRPr lang="en-US" sz="1600" dirty="0">
              <a:latin typeface="Aptos" panose="020B0004020202020204" pitchFamily="34" charset="0"/>
            </a:endParaRPr>
          </a:p>
        </p:txBody>
      </p:sp>
      <p:sp>
        <p:nvSpPr>
          <p:cNvPr id="13" name="Shape 9"/>
          <p:cNvSpPr/>
          <p:nvPr/>
        </p:nvSpPr>
        <p:spPr>
          <a:xfrm>
            <a:off x="8024909" y="2120205"/>
            <a:ext cx="3446773" cy="3600549"/>
          </a:xfrm>
          <a:prstGeom prst="roundRect">
            <a:avLst>
              <a:gd name="adj" fmla="val 2507"/>
            </a:avLst>
          </a:prstGeom>
          <a:solidFill>
            <a:srgbClr val="542C49"/>
          </a:solidFill>
          <a:ln w="12700">
            <a:solidFill>
              <a:srgbClr val="6D4562"/>
            </a:solidFill>
            <a:prstDash val="solid"/>
          </a:ln>
        </p:spPr>
      </p:sp>
      <p:sp>
        <p:nvSpPr>
          <p:cNvPr id="14" name="Shape 10"/>
          <p:cNvSpPr/>
          <p:nvPr/>
        </p:nvSpPr>
        <p:spPr>
          <a:xfrm>
            <a:off x="8243284" y="2338586"/>
            <a:ext cx="617125" cy="617141"/>
          </a:xfrm>
          <a:prstGeom prst="ellipse">
            <a:avLst/>
          </a:prstGeom>
          <a:solidFill>
            <a:srgbClr val="A95B95"/>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2944" y="2508250"/>
            <a:ext cx="277706" cy="277713"/>
          </a:xfrm>
          <a:prstGeom prst="rect">
            <a:avLst/>
          </a:prstGeom>
        </p:spPr>
      </p:pic>
      <p:sp>
        <p:nvSpPr>
          <p:cNvPr id="16" name="Text 11"/>
          <p:cNvSpPr/>
          <p:nvPr/>
        </p:nvSpPr>
        <p:spPr>
          <a:xfrm>
            <a:off x="8243284" y="3161407"/>
            <a:ext cx="3010023" cy="285750"/>
          </a:xfrm>
          <a:prstGeom prst="rect">
            <a:avLst/>
          </a:prstGeom>
          <a:noFill/>
          <a:ln/>
        </p:spPr>
        <p:txBody>
          <a:bodyPr wrap="none" lIns="0" tIns="0" rIns="0" bIns="0" rtlCol="0" anchor="t"/>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CO3 — Methods &amp; Arrays</a:t>
            </a:r>
            <a:endParaRPr lang="en-US" sz="1750" dirty="0"/>
          </a:p>
        </p:txBody>
      </p:sp>
      <p:sp>
        <p:nvSpPr>
          <p:cNvPr id="17" name="Text 12"/>
          <p:cNvSpPr/>
          <p:nvPr/>
        </p:nvSpPr>
        <p:spPr>
          <a:xfrm>
            <a:off x="8243284" y="3570585"/>
            <a:ext cx="3010023" cy="164603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Aptos" panose="020B0004020202020204" pitchFamily="34" charset="0"/>
                <a:ea typeface="Mukta Light" pitchFamily="34" charset="-122"/>
                <a:cs typeface="Mukta Light" pitchFamily="34" charset="-120"/>
              </a:rPr>
              <a:t>Methods organize different operations such as adding and displaying songs, while arrays efficiently store and manage multiple song details in memory</a:t>
            </a:r>
            <a:r>
              <a:rPr lang="en-US" sz="1600" dirty="0">
                <a:solidFill>
                  <a:srgbClr val="DAD8E9"/>
                </a:solidFill>
                <a:latin typeface="Mukta Light" pitchFamily="34" charset="0"/>
                <a:ea typeface="Mukta Light" pitchFamily="34" charset="-122"/>
                <a:cs typeface="Mukta Light" pitchFamily="34" charset="-120"/>
              </a:rPr>
              <a: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C887A-59DB-BC45-5447-96C9DC27638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158A5C-9E90-B91C-1587-490AA991C4AE}"/>
              </a:ext>
            </a:extLst>
          </p:cNvPr>
          <p:cNvSpPr/>
          <p:nvPr/>
        </p:nvSpPr>
        <p:spPr>
          <a:xfrm>
            <a:off x="720012" y="1137245"/>
            <a:ext cx="10751670" cy="571500"/>
          </a:xfrm>
          <a:prstGeom prst="rect">
            <a:avLst/>
          </a:prstGeom>
          <a:noFill/>
          <a:ln/>
        </p:spPr>
        <p:txBody>
          <a:bodyPr wrap="none" lIns="0" tIns="0" rIns="0" bIns="0" rtlCol="0" anchor="t"/>
          <a:lstStyle/>
          <a:p>
            <a:pPr marL="0" indent="0" algn="l">
              <a:lnSpc>
                <a:spcPct val="104000"/>
              </a:lnSpc>
              <a:buNone/>
            </a:pPr>
            <a:r>
              <a:rPr lang="en-US" sz="3550" dirty="0">
                <a:solidFill>
                  <a:srgbClr val="C6BFEE"/>
                </a:solidFill>
                <a:latin typeface="Prompt Medium" pitchFamily="34" charset="0"/>
                <a:ea typeface="Prompt Medium" pitchFamily="34" charset="-122"/>
                <a:cs typeface="Prompt Medium" pitchFamily="34" charset="-120"/>
              </a:rPr>
              <a:t>Course Outcomes Covered</a:t>
            </a:r>
            <a:endParaRPr lang="en-US" sz="3550" dirty="0"/>
          </a:p>
        </p:txBody>
      </p:sp>
      <p:sp>
        <p:nvSpPr>
          <p:cNvPr id="3" name="Shape 1">
            <a:extLst>
              <a:ext uri="{FF2B5EF4-FFF2-40B4-BE49-F238E27FC236}">
                <a16:creationId xmlns:a16="http://schemas.microsoft.com/office/drawing/2014/main" id="{A3D209C0-1024-2A78-8E97-883064EB478D}"/>
              </a:ext>
            </a:extLst>
          </p:cNvPr>
          <p:cNvSpPr/>
          <p:nvPr/>
        </p:nvSpPr>
        <p:spPr>
          <a:xfrm>
            <a:off x="707313" y="2120205"/>
            <a:ext cx="3446773" cy="3600549"/>
          </a:xfrm>
          <a:prstGeom prst="roundRect">
            <a:avLst>
              <a:gd name="adj" fmla="val 2507"/>
            </a:avLst>
          </a:prstGeom>
          <a:solidFill>
            <a:srgbClr val="542C49"/>
          </a:solidFill>
          <a:ln w="12700">
            <a:solidFill>
              <a:srgbClr val="6D4562"/>
            </a:solidFill>
            <a:prstDash val="solid"/>
          </a:ln>
        </p:spPr>
        <p:txBody>
          <a:bodyPr/>
          <a:lstStyle/>
          <a:p>
            <a:endParaRPr lang="en-IN" dirty="0"/>
          </a:p>
        </p:txBody>
      </p:sp>
      <p:sp>
        <p:nvSpPr>
          <p:cNvPr id="4" name="Shape 2">
            <a:extLst>
              <a:ext uri="{FF2B5EF4-FFF2-40B4-BE49-F238E27FC236}">
                <a16:creationId xmlns:a16="http://schemas.microsoft.com/office/drawing/2014/main" id="{EDD30EB2-E53F-FCF6-F361-F572A30EF26A}"/>
              </a:ext>
            </a:extLst>
          </p:cNvPr>
          <p:cNvSpPr/>
          <p:nvPr/>
        </p:nvSpPr>
        <p:spPr>
          <a:xfrm>
            <a:off x="938387" y="2338586"/>
            <a:ext cx="617125" cy="617141"/>
          </a:xfrm>
          <a:prstGeom prst="ellipse">
            <a:avLst/>
          </a:prstGeom>
          <a:solidFill>
            <a:srgbClr val="A95B95"/>
          </a:solidFill>
          <a:ln/>
        </p:spPr>
      </p:sp>
      <p:pic>
        <p:nvPicPr>
          <p:cNvPr id="5" name="Image 0" descr="preencoded.png">
            <a:extLst>
              <a:ext uri="{FF2B5EF4-FFF2-40B4-BE49-F238E27FC236}">
                <a16:creationId xmlns:a16="http://schemas.microsoft.com/office/drawing/2014/main" id="{0B21371C-637F-D1E0-0AAA-CD6C995DBB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8047" y="2508250"/>
            <a:ext cx="277706" cy="277713"/>
          </a:xfrm>
          <a:prstGeom prst="rect">
            <a:avLst/>
          </a:prstGeom>
        </p:spPr>
      </p:pic>
      <p:sp>
        <p:nvSpPr>
          <p:cNvPr id="6" name="Text 3">
            <a:extLst>
              <a:ext uri="{FF2B5EF4-FFF2-40B4-BE49-F238E27FC236}">
                <a16:creationId xmlns:a16="http://schemas.microsoft.com/office/drawing/2014/main" id="{6FC5CCC0-A94E-4682-2A2C-C32AE817BB69}"/>
              </a:ext>
            </a:extLst>
          </p:cNvPr>
          <p:cNvSpPr/>
          <p:nvPr/>
        </p:nvSpPr>
        <p:spPr>
          <a:xfrm>
            <a:off x="938387" y="3125391"/>
            <a:ext cx="3010023" cy="2335609"/>
          </a:xfrm>
          <a:prstGeom prst="rect">
            <a:avLst/>
          </a:prstGeom>
          <a:noFill/>
          <a:ln/>
        </p:spPr>
        <p:txBody>
          <a:bodyPr wrap="square" lIns="0" tIns="0" rIns="0" bIns="0" rtlCol="0" anchor="t">
            <a:normAutofit fontScale="25000" lnSpcReduction="20000"/>
          </a:bodyPr>
          <a:lstStyle/>
          <a:p>
            <a:r>
              <a:rPr lang="en-US" sz="8000" dirty="0">
                <a:solidFill>
                  <a:srgbClr val="DAD8E9"/>
                </a:solidFill>
                <a:latin typeface="Prompt Medium" pitchFamily="34" charset="0"/>
                <a:ea typeface="Prompt Medium" pitchFamily="34" charset="-122"/>
                <a:cs typeface="Prompt Medium" pitchFamily="34" charset="-120"/>
              </a:rPr>
              <a:t>CO4 — </a:t>
            </a:r>
            <a:r>
              <a:rPr lang="en-IN" sz="9600" dirty="0">
                <a:solidFill>
                  <a:schemeClr val="bg1"/>
                </a:solidFill>
              </a:rPr>
              <a:t>OOP &amp; Exceptions</a:t>
            </a:r>
            <a:endParaRPr lang="en-US" sz="9600" dirty="0">
              <a:solidFill>
                <a:schemeClr val="bg1"/>
              </a:solidFill>
              <a:latin typeface="Prompt Medium" pitchFamily="34" charset="0"/>
              <a:ea typeface="Prompt Medium" pitchFamily="34" charset="-122"/>
              <a:cs typeface="Prompt Medium" pitchFamily="34" charset="-120"/>
            </a:endParaRPr>
          </a:p>
          <a:p>
            <a:pPr marL="0" indent="0" algn="l">
              <a:lnSpc>
                <a:spcPct val="104000"/>
              </a:lnSpc>
              <a:buNone/>
            </a:pPr>
            <a:endParaRPr lang="en-US" sz="8000" dirty="0">
              <a:solidFill>
                <a:srgbClr val="DAD8E9"/>
              </a:solidFill>
              <a:latin typeface="Prompt Medium" pitchFamily="34" charset="0"/>
              <a:ea typeface="Prompt Medium" pitchFamily="34" charset="-122"/>
              <a:cs typeface="Prompt Medium" pitchFamily="34" charset="-120"/>
            </a:endParaRPr>
          </a:p>
          <a:p>
            <a:r>
              <a:rPr lang="en-IN" sz="7200" dirty="0">
                <a:solidFill>
                  <a:schemeClr val="bg1">
                    <a:lumMod val="95000"/>
                  </a:schemeClr>
                </a:solidFill>
                <a:latin typeface="Aptos" panose="020B0004020202020204" pitchFamily="34" charset="0"/>
                <a:cs typeface="Mukta Light" panose="020B0604020202020204" charset="0"/>
              </a:rPr>
              <a:t>Song and Playlist classes with encapsulated fields, inheritance for song types, and try-catch for invalid input.</a:t>
            </a:r>
            <a:endParaRPr lang="en-US" sz="7200" dirty="0">
              <a:solidFill>
                <a:schemeClr val="bg1">
                  <a:lumMod val="95000"/>
                </a:schemeClr>
              </a:solidFill>
              <a:latin typeface="Aptos" panose="020B0004020202020204" pitchFamily="34" charset="0"/>
              <a:cs typeface="Mukta Light" panose="020B0604020202020204" charset="0"/>
            </a:endParaRPr>
          </a:p>
        </p:txBody>
      </p:sp>
      <p:sp>
        <p:nvSpPr>
          <p:cNvPr id="7" name="Text 4">
            <a:extLst>
              <a:ext uri="{FF2B5EF4-FFF2-40B4-BE49-F238E27FC236}">
                <a16:creationId xmlns:a16="http://schemas.microsoft.com/office/drawing/2014/main" id="{332CBEEB-44F2-05D9-FBA3-522E5B5C4039}"/>
              </a:ext>
            </a:extLst>
          </p:cNvPr>
          <p:cNvSpPr/>
          <p:nvPr/>
        </p:nvSpPr>
        <p:spPr>
          <a:xfrm>
            <a:off x="938387" y="3903811"/>
            <a:ext cx="3010023" cy="1646039"/>
          </a:xfrm>
          <a:prstGeom prst="rect">
            <a:avLst/>
          </a:prstGeom>
          <a:noFill/>
          <a:ln/>
        </p:spPr>
        <p:txBody>
          <a:bodyPr wrap="square" lIns="0" tIns="0" rIns="0" bIns="0" rtlCol="0" anchor="t">
            <a:normAutofit/>
          </a:bodyPr>
          <a:lstStyle/>
          <a:p>
            <a:pPr marL="0" indent="0" algn="l">
              <a:lnSpc>
                <a:spcPct val="133000"/>
              </a:lnSpc>
              <a:buNone/>
            </a:pPr>
            <a:endParaRPr lang="en-US" sz="1600" dirty="0"/>
          </a:p>
        </p:txBody>
      </p:sp>
      <p:sp>
        <p:nvSpPr>
          <p:cNvPr id="8" name="Shape 5">
            <a:extLst>
              <a:ext uri="{FF2B5EF4-FFF2-40B4-BE49-F238E27FC236}">
                <a16:creationId xmlns:a16="http://schemas.microsoft.com/office/drawing/2014/main" id="{CEAD5C61-D651-F043-F3A5-CCAB8B4259F2}"/>
              </a:ext>
            </a:extLst>
          </p:cNvPr>
          <p:cNvSpPr/>
          <p:nvPr/>
        </p:nvSpPr>
        <p:spPr>
          <a:xfrm>
            <a:off x="4372461" y="2120205"/>
            <a:ext cx="3446773" cy="3600549"/>
          </a:xfrm>
          <a:prstGeom prst="roundRect">
            <a:avLst>
              <a:gd name="adj" fmla="val 2507"/>
            </a:avLst>
          </a:prstGeom>
          <a:solidFill>
            <a:srgbClr val="542C49"/>
          </a:solidFill>
          <a:ln w="12700">
            <a:solidFill>
              <a:srgbClr val="6D4562"/>
            </a:solidFill>
            <a:prstDash val="solid"/>
          </a:ln>
        </p:spPr>
      </p:sp>
      <p:sp>
        <p:nvSpPr>
          <p:cNvPr id="9" name="Shape 6">
            <a:extLst>
              <a:ext uri="{FF2B5EF4-FFF2-40B4-BE49-F238E27FC236}">
                <a16:creationId xmlns:a16="http://schemas.microsoft.com/office/drawing/2014/main" id="{47F84354-32F3-8EED-F0DD-7B4F80A5BCB5}"/>
              </a:ext>
            </a:extLst>
          </p:cNvPr>
          <p:cNvSpPr/>
          <p:nvPr/>
        </p:nvSpPr>
        <p:spPr>
          <a:xfrm>
            <a:off x="4590836" y="2338586"/>
            <a:ext cx="617125" cy="617141"/>
          </a:xfrm>
          <a:prstGeom prst="ellipse">
            <a:avLst/>
          </a:prstGeom>
          <a:solidFill>
            <a:srgbClr val="A95B95"/>
          </a:solidFill>
          <a:ln/>
        </p:spPr>
      </p:sp>
      <p:pic>
        <p:nvPicPr>
          <p:cNvPr id="10" name="Image 1" descr="preencoded.png">
            <a:extLst>
              <a:ext uri="{FF2B5EF4-FFF2-40B4-BE49-F238E27FC236}">
                <a16:creationId xmlns:a16="http://schemas.microsoft.com/office/drawing/2014/main" id="{7FF15DE1-D87F-BE64-E530-E43E671134E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60496" y="2508250"/>
            <a:ext cx="277706" cy="277713"/>
          </a:xfrm>
          <a:prstGeom prst="rect">
            <a:avLst/>
          </a:prstGeom>
        </p:spPr>
      </p:pic>
      <p:sp>
        <p:nvSpPr>
          <p:cNvPr id="11" name="Text 7">
            <a:extLst>
              <a:ext uri="{FF2B5EF4-FFF2-40B4-BE49-F238E27FC236}">
                <a16:creationId xmlns:a16="http://schemas.microsoft.com/office/drawing/2014/main" id="{C2F98243-5945-306F-E0F0-2DFC0F4AAA8A}"/>
              </a:ext>
            </a:extLst>
          </p:cNvPr>
          <p:cNvSpPr/>
          <p:nvPr/>
        </p:nvSpPr>
        <p:spPr>
          <a:xfrm>
            <a:off x="4478867" y="3022601"/>
            <a:ext cx="3191933" cy="2527250"/>
          </a:xfrm>
          <a:prstGeom prst="rect">
            <a:avLst/>
          </a:prstGeom>
          <a:noFill/>
          <a:ln/>
        </p:spPr>
        <p:txBody>
          <a:bodyPr wrap="none" lIns="0" tIns="0" rIns="0" bIns="0" rtlCol="0" anchor="t"/>
          <a:lstStyle/>
          <a:p>
            <a:r>
              <a:rPr lang="en-US" sz="1750" dirty="0">
                <a:solidFill>
                  <a:srgbClr val="DAD8E9"/>
                </a:solidFill>
                <a:latin typeface="Prompt Medium" pitchFamily="34" charset="0"/>
                <a:ea typeface="Prompt Medium" pitchFamily="34" charset="-122"/>
                <a:cs typeface="Prompt Medium" pitchFamily="34" charset="-120"/>
              </a:rPr>
              <a:t>CO5— </a:t>
            </a:r>
            <a:r>
              <a:rPr lang="en-IN" sz="2400" dirty="0">
                <a:solidFill>
                  <a:schemeClr val="bg1"/>
                </a:solidFill>
              </a:rPr>
              <a:t>Strings &amp; File I/O</a:t>
            </a:r>
          </a:p>
          <a:p>
            <a:endParaRPr lang="en-IN" sz="2400" dirty="0">
              <a:solidFill>
                <a:schemeClr val="bg1"/>
              </a:solidFill>
            </a:endParaRPr>
          </a:p>
          <a:p>
            <a:r>
              <a:rPr lang="en-IN" dirty="0">
                <a:solidFill>
                  <a:schemeClr val="bg1"/>
                </a:solidFill>
                <a:latin typeface="Aptos" panose="020B0004020202020204" pitchFamily="34" charset="0"/>
                <a:cs typeface="Mukta Light" panose="020B0604020202020204" charset="0"/>
              </a:rPr>
              <a:t>String methods to search by title</a:t>
            </a:r>
          </a:p>
          <a:p>
            <a:r>
              <a:rPr lang="en-IN" dirty="0">
                <a:solidFill>
                  <a:schemeClr val="bg1"/>
                </a:solidFill>
                <a:latin typeface="Aptos" panose="020B0004020202020204" pitchFamily="34" charset="0"/>
                <a:cs typeface="Mukta Light" panose="020B0604020202020204" charset="0"/>
              </a:rPr>
              <a:t> or  artist, Comparator to sort by</a:t>
            </a:r>
          </a:p>
          <a:p>
            <a:r>
              <a:rPr lang="en-IN" dirty="0">
                <a:solidFill>
                  <a:schemeClr val="bg1"/>
                </a:solidFill>
                <a:latin typeface="Aptos" panose="020B0004020202020204" pitchFamily="34" charset="0"/>
                <a:cs typeface="Mukta Light" panose="020B0604020202020204" charset="0"/>
              </a:rPr>
              <a:t> play count, and files to save </a:t>
            </a:r>
          </a:p>
          <a:p>
            <a:r>
              <a:rPr lang="en-IN" dirty="0">
                <a:solidFill>
                  <a:schemeClr val="bg1"/>
                </a:solidFill>
                <a:latin typeface="Aptos" panose="020B0004020202020204" pitchFamily="34" charset="0"/>
                <a:cs typeface="Mukta Light" panose="020B0604020202020204" charset="0"/>
              </a:rPr>
              <a:t>playlists.</a:t>
            </a:r>
          </a:p>
        </p:txBody>
      </p:sp>
      <p:sp>
        <p:nvSpPr>
          <p:cNvPr id="12" name="Text 8">
            <a:extLst>
              <a:ext uri="{FF2B5EF4-FFF2-40B4-BE49-F238E27FC236}">
                <a16:creationId xmlns:a16="http://schemas.microsoft.com/office/drawing/2014/main" id="{EDB3B0BE-6912-7721-CD0E-85ECDF920D59}"/>
              </a:ext>
            </a:extLst>
          </p:cNvPr>
          <p:cNvSpPr/>
          <p:nvPr/>
        </p:nvSpPr>
        <p:spPr>
          <a:xfrm>
            <a:off x="4590836" y="3570585"/>
            <a:ext cx="3010023" cy="1646039"/>
          </a:xfrm>
          <a:prstGeom prst="rect">
            <a:avLst/>
          </a:prstGeom>
          <a:noFill/>
          <a:ln/>
        </p:spPr>
        <p:txBody>
          <a:bodyPr wrap="square" lIns="0" tIns="0" rIns="0" bIns="0" rtlCol="0" anchor="t">
            <a:normAutofit/>
          </a:bodyPr>
          <a:lstStyle/>
          <a:p>
            <a:pPr marL="0" indent="0" algn="l">
              <a:lnSpc>
                <a:spcPct val="133000"/>
              </a:lnSpc>
              <a:buNone/>
            </a:pPr>
            <a:endParaRPr lang="en-US" sz="1600" dirty="0"/>
          </a:p>
        </p:txBody>
      </p:sp>
      <p:sp>
        <p:nvSpPr>
          <p:cNvPr id="13" name="Shape 9">
            <a:extLst>
              <a:ext uri="{FF2B5EF4-FFF2-40B4-BE49-F238E27FC236}">
                <a16:creationId xmlns:a16="http://schemas.microsoft.com/office/drawing/2014/main" id="{A2E34CA6-2383-3B1E-9D9D-A071FB1F83CA}"/>
              </a:ext>
            </a:extLst>
          </p:cNvPr>
          <p:cNvSpPr/>
          <p:nvPr/>
        </p:nvSpPr>
        <p:spPr>
          <a:xfrm>
            <a:off x="7988894" y="2127779"/>
            <a:ext cx="3446773" cy="3600549"/>
          </a:xfrm>
          <a:prstGeom prst="roundRect">
            <a:avLst>
              <a:gd name="adj" fmla="val 2507"/>
            </a:avLst>
          </a:prstGeom>
          <a:solidFill>
            <a:srgbClr val="542C49"/>
          </a:solidFill>
          <a:ln w="12700">
            <a:solidFill>
              <a:srgbClr val="6D4562"/>
            </a:solidFill>
            <a:prstDash val="solid"/>
          </a:ln>
        </p:spPr>
      </p:sp>
      <p:sp>
        <p:nvSpPr>
          <p:cNvPr id="14" name="Shape 10">
            <a:extLst>
              <a:ext uri="{FF2B5EF4-FFF2-40B4-BE49-F238E27FC236}">
                <a16:creationId xmlns:a16="http://schemas.microsoft.com/office/drawing/2014/main" id="{C11C2D15-083C-D490-1998-470A6E00449A}"/>
              </a:ext>
            </a:extLst>
          </p:cNvPr>
          <p:cNvSpPr/>
          <p:nvPr/>
        </p:nvSpPr>
        <p:spPr>
          <a:xfrm>
            <a:off x="8243284" y="2338586"/>
            <a:ext cx="617125" cy="617141"/>
          </a:xfrm>
          <a:prstGeom prst="ellipse">
            <a:avLst/>
          </a:prstGeom>
          <a:solidFill>
            <a:srgbClr val="A95B95"/>
          </a:solidFill>
          <a:ln/>
        </p:spPr>
      </p:sp>
      <p:pic>
        <p:nvPicPr>
          <p:cNvPr id="15" name="Image 2" descr="preencoded.png">
            <a:extLst>
              <a:ext uri="{FF2B5EF4-FFF2-40B4-BE49-F238E27FC236}">
                <a16:creationId xmlns:a16="http://schemas.microsoft.com/office/drawing/2014/main" id="{D82D2AF2-A7D1-B713-88A4-0EDF9486C5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12944" y="2508250"/>
            <a:ext cx="277706" cy="277713"/>
          </a:xfrm>
          <a:prstGeom prst="rect">
            <a:avLst/>
          </a:prstGeom>
        </p:spPr>
      </p:pic>
      <p:sp>
        <p:nvSpPr>
          <p:cNvPr id="16" name="Text 11">
            <a:extLst>
              <a:ext uri="{FF2B5EF4-FFF2-40B4-BE49-F238E27FC236}">
                <a16:creationId xmlns:a16="http://schemas.microsoft.com/office/drawing/2014/main" id="{7A2EBAE2-2D03-D2F4-D8E7-48A77EA9DA8A}"/>
              </a:ext>
            </a:extLst>
          </p:cNvPr>
          <p:cNvSpPr/>
          <p:nvPr/>
        </p:nvSpPr>
        <p:spPr>
          <a:xfrm>
            <a:off x="8243283" y="2989866"/>
            <a:ext cx="3010023" cy="2471134"/>
          </a:xfrm>
          <a:prstGeom prst="rect">
            <a:avLst/>
          </a:prstGeom>
          <a:noFill/>
          <a:ln/>
        </p:spPr>
        <p:txBody>
          <a:bodyPr wrap="none" lIns="0" tIns="0" rIns="0" bIns="0" rtlCol="0" anchor="t"/>
          <a:lstStyle/>
          <a:p>
            <a:r>
              <a:rPr lang="en-US" sz="1750" dirty="0">
                <a:solidFill>
                  <a:srgbClr val="DAD8E9"/>
                </a:solidFill>
                <a:latin typeface="Prompt Medium" pitchFamily="34" charset="0"/>
                <a:ea typeface="Prompt Medium" pitchFamily="34" charset="-122"/>
                <a:cs typeface="Prompt Medium" pitchFamily="34" charset="-120"/>
              </a:rPr>
              <a:t>CO6 </a:t>
            </a:r>
            <a:r>
              <a:rPr lang="en-US" sz="2400" dirty="0">
                <a:solidFill>
                  <a:schemeClr val="bg1"/>
                </a:solidFill>
                <a:latin typeface="Prompt Medium" pitchFamily="34" charset="0"/>
                <a:ea typeface="Prompt Medium" pitchFamily="34" charset="-122"/>
                <a:cs typeface="Prompt Medium" pitchFamily="34" charset="-120"/>
              </a:rPr>
              <a:t>— </a:t>
            </a:r>
            <a:r>
              <a:rPr lang="en-IN" sz="2400" dirty="0">
                <a:solidFill>
                  <a:schemeClr val="bg1"/>
                </a:solidFill>
              </a:rPr>
              <a:t>Collections &amp;</a:t>
            </a:r>
          </a:p>
          <a:p>
            <a:r>
              <a:rPr lang="en-IN" sz="2400" dirty="0">
                <a:solidFill>
                  <a:schemeClr val="bg1"/>
                </a:solidFill>
              </a:rPr>
              <a:t>Streams</a:t>
            </a:r>
          </a:p>
          <a:p>
            <a:r>
              <a:rPr lang="en-IN" dirty="0" err="1">
                <a:solidFill>
                  <a:schemeClr val="bg1"/>
                </a:solidFill>
                <a:latin typeface="Aptos" panose="020B0004020202020204" pitchFamily="34" charset="0"/>
                <a:cs typeface="Mukta Light" panose="020B0604020202020204" charset="0"/>
              </a:rPr>
              <a:t>ArrayList</a:t>
            </a:r>
            <a:r>
              <a:rPr lang="en-IN" dirty="0">
                <a:solidFill>
                  <a:schemeClr val="bg1">
                    <a:lumMod val="95000"/>
                  </a:schemeClr>
                </a:solidFill>
                <a:latin typeface="Aptos" panose="020B0004020202020204" pitchFamily="34" charset="0"/>
                <a:cs typeface="Mukta Light" panose="020B0604020202020204" charset="0"/>
              </a:rPr>
              <a:t> and HashMap to</a:t>
            </a:r>
          </a:p>
          <a:p>
            <a:r>
              <a:rPr lang="en-IN" dirty="0">
                <a:solidFill>
                  <a:schemeClr val="bg1">
                    <a:lumMod val="95000"/>
                  </a:schemeClr>
                </a:solidFill>
                <a:latin typeface="Aptos" panose="020B0004020202020204" pitchFamily="34" charset="0"/>
                <a:cs typeface="Mukta Light" panose="020B0604020202020204" charset="0"/>
              </a:rPr>
              <a:t> store songs and play</a:t>
            </a:r>
          </a:p>
          <a:p>
            <a:r>
              <a:rPr lang="en-IN" dirty="0">
                <a:solidFill>
                  <a:schemeClr val="bg1">
                    <a:lumMod val="95000"/>
                  </a:schemeClr>
                </a:solidFill>
                <a:latin typeface="Aptos" panose="020B0004020202020204" pitchFamily="34" charset="0"/>
                <a:cs typeface="Mukta Light" panose="020B0604020202020204" charset="0"/>
              </a:rPr>
              <a:t> counts, with Streams </a:t>
            </a:r>
          </a:p>
          <a:p>
            <a:r>
              <a:rPr lang="en-IN" dirty="0">
                <a:solidFill>
                  <a:schemeClr val="bg1">
                    <a:lumMod val="95000"/>
                  </a:schemeClr>
                </a:solidFill>
                <a:latin typeface="Aptos" panose="020B0004020202020204" pitchFamily="34" charset="0"/>
                <a:cs typeface="Mukta Light" panose="020B0604020202020204" charset="0"/>
              </a:rPr>
              <a:t>to filter, sort, and group</a:t>
            </a:r>
          </a:p>
          <a:p>
            <a:r>
              <a:rPr lang="en-IN" dirty="0">
                <a:solidFill>
                  <a:schemeClr val="bg1">
                    <a:lumMod val="95000"/>
                  </a:schemeClr>
                </a:solidFill>
                <a:latin typeface="Aptos" panose="020B0004020202020204" pitchFamily="34" charset="0"/>
                <a:cs typeface="Mukta Light" panose="020B0604020202020204" charset="0"/>
              </a:rPr>
              <a:t> listening stats</a:t>
            </a:r>
            <a:r>
              <a:rPr lang="en-IN" sz="2000" dirty="0">
                <a:solidFill>
                  <a:schemeClr val="bg1">
                    <a:lumMod val="95000"/>
                  </a:schemeClr>
                </a:solidFill>
                <a:latin typeface="Aptos" panose="020B0004020202020204" pitchFamily="34" charset="0"/>
                <a:cs typeface="Mukta Light" panose="020B0604020202020204" charset="0"/>
              </a:rPr>
              <a:t>.</a:t>
            </a:r>
            <a:endParaRPr lang="en-US" sz="2000" dirty="0">
              <a:solidFill>
                <a:schemeClr val="bg1">
                  <a:lumMod val="95000"/>
                </a:schemeClr>
              </a:solidFill>
              <a:latin typeface="Aptos" panose="020B0004020202020204" pitchFamily="34" charset="0"/>
              <a:cs typeface="Mukta Light" panose="020B0604020202020204" charset="0"/>
            </a:endParaRPr>
          </a:p>
        </p:txBody>
      </p:sp>
      <p:sp>
        <p:nvSpPr>
          <p:cNvPr id="17" name="Text 12">
            <a:extLst>
              <a:ext uri="{FF2B5EF4-FFF2-40B4-BE49-F238E27FC236}">
                <a16:creationId xmlns:a16="http://schemas.microsoft.com/office/drawing/2014/main" id="{6D3EED35-87F2-7FDC-BAB2-187166F9F679}"/>
              </a:ext>
            </a:extLst>
          </p:cNvPr>
          <p:cNvSpPr/>
          <p:nvPr/>
        </p:nvSpPr>
        <p:spPr>
          <a:xfrm>
            <a:off x="8243284" y="3570585"/>
            <a:ext cx="3010023" cy="1646039"/>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a:t>
            </a:r>
            <a:endParaRPr lang="en-US" sz="1600" dirty="0"/>
          </a:p>
        </p:txBody>
      </p:sp>
    </p:spTree>
    <p:extLst>
      <p:ext uri="{BB962C8B-B14F-4D97-AF65-F5344CB8AC3E}">
        <p14:creationId xmlns:p14="http://schemas.microsoft.com/office/powerpoint/2010/main" val="593047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09478" y="576119"/>
            <a:ext cx="10751670" cy="285750"/>
          </a:xfrm>
          <a:prstGeom prst="rect">
            <a:avLst/>
          </a:prstGeom>
          <a:noFill/>
          <a:ln/>
        </p:spPr>
        <p:txBody>
          <a:bodyPr wrap="none" lIns="0" tIns="0" rIns="0" bIns="0" rtlCol="0" anchor="t"/>
          <a:lstStyle/>
          <a:p>
            <a:pPr marL="0" indent="0" algn="l">
              <a:lnSpc>
                <a:spcPct val="104000"/>
              </a:lnSpc>
              <a:buNone/>
            </a:pPr>
            <a:r>
              <a:rPr lang="en-US" sz="3600" dirty="0">
                <a:solidFill>
                  <a:srgbClr val="C6BFEE"/>
                </a:solidFill>
                <a:latin typeface="Prompt Medium" pitchFamily="34" charset="0"/>
                <a:ea typeface="Prompt Medium" pitchFamily="34" charset="-122"/>
                <a:cs typeface="Prompt Medium" pitchFamily="34" charset="-120"/>
              </a:rPr>
              <a:t>Project Objectives</a:t>
            </a:r>
            <a:endParaRPr lang="en-US" sz="3600" dirty="0"/>
          </a:p>
        </p:txBody>
      </p:sp>
      <p:pic>
        <p:nvPicPr>
          <p:cNvPr id="3" name="Image 0" descr="preencoded.png"/>
          <p:cNvPicPr>
            <a:picLocks noChangeAspect="1"/>
          </p:cNvPicPr>
          <p:nvPr/>
        </p:nvPicPr>
        <p:blipFill>
          <a:blip r:embed="rId3"/>
          <a:stretch>
            <a:fillRect/>
          </a:stretch>
        </p:blipFill>
        <p:spPr>
          <a:xfrm>
            <a:off x="601673" y="1223499"/>
            <a:ext cx="5250426" cy="5250557"/>
          </a:xfrm>
          <a:prstGeom prst="rect">
            <a:avLst/>
          </a:prstGeom>
        </p:spPr>
      </p:pic>
      <p:sp>
        <p:nvSpPr>
          <p:cNvPr id="4" name="Text 1"/>
          <p:cNvSpPr/>
          <p:nvPr/>
        </p:nvSpPr>
        <p:spPr>
          <a:xfrm>
            <a:off x="6227607" y="1501422"/>
            <a:ext cx="5250426" cy="142875"/>
          </a:xfrm>
          <a:prstGeom prst="rect">
            <a:avLst/>
          </a:prstGeom>
          <a:noFill/>
          <a:ln/>
        </p:spPr>
        <p:txBody>
          <a:bodyPr wrap="none" lIns="0" tIns="0" rIns="0" bIns="0" rtlCol="0" anchor="t"/>
          <a:lstStyle/>
          <a:p>
            <a:pPr marL="0" indent="0" algn="l">
              <a:lnSpc>
                <a:spcPct val="104000"/>
              </a:lnSpc>
              <a:buNone/>
            </a:pPr>
            <a:r>
              <a:rPr lang="en-US" sz="2800" dirty="0">
                <a:solidFill>
                  <a:srgbClr val="C6BFEE"/>
                </a:solidFill>
                <a:latin typeface="Prompt Medium" pitchFamily="34" charset="0"/>
                <a:ea typeface="Prompt Medium" pitchFamily="34" charset="-122"/>
                <a:cs typeface="Prompt Medium" pitchFamily="34" charset="-120"/>
              </a:rPr>
              <a:t>Primary Goal</a:t>
            </a:r>
            <a:endParaRPr lang="en-US" sz="2800" dirty="0"/>
          </a:p>
        </p:txBody>
      </p:sp>
      <p:sp>
        <p:nvSpPr>
          <p:cNvPr id="5" name="Text 2"/>
          <p:cNvSpPr/>
          <p:nvPr/>
        </p:nvSpPr>
        <p:spPr>
          <a:xfrm>
            <a:off x="6331990" y="2081807"/>
            <a:ext cx="5860010" cy="123428"/>
          </a:xfrm>
          <a:prstGeom prst="rect">
            <a:avLst/>
          </a:prstGeom>
          <a:noFill/>
          <a:ln/>
        </p:spPr>
        <p:txBody>
          <a:bodyPr wrap="none" lIns="0" tIns="0" rIns="0" bIns="0" rtlCol="0" anchor="t"/>
          <a:lstStyle/>
          <a:p>
            <a:pPr marL="0" indent="0" algn="l">
              <a:lnSpc>
                <a:spcPct val="100000"/>
              </a:lnSpc>
              <a:buNone/>
            </a:pPr>
            <a:r>
              <a:rPr lang="en-US" sz="1600" dirty="0">
                <a:solidFill>
                  <a:srgbClr val="DAD8E9"/>
                </a:solidFill>
                <a:latin typeface="Mukta Light" pitchFamily="34" charset="0"/>
                <a:ea typeface="Mukta Light" pitchFamily="34" charset="-122"/>
                <a:cs typeface="Mukta Light" pitchFamily="34" charset="-120"/>
              </a:rPr>
              <a:t>Develop a </a:t>
            </a:r>
            <a:r>
              <a:rPr lang="en-US" sz="1600" b="1" dirty="0">
                <a:solidFill>
                  <a:srgbClr val="DAD8E9"/>
                </a:solidFill>
                <a:latin typeface="Mukta Bold" pitchFamily="34" charset="0"/>
                <a:ea typeface="Mukta Bold" pitchFamily="34" charset="-122"/>
                <a:cs typeface="Mukta Bold" pitchFamily="34" charset="-120"/>
              </a:rPr>
              <a:t>user-friendly platform</a:t>
            </a:r>
            <a:r>
              <a:rPr lang="en-US" sz="1600" dirty="0">
                <a:solidFill>
                  <a:srgbClr val="DAD8E9"/>
                </a:solidFill>
                <a:latin typeface="Mukta Light" pitchFamily="34" charset="0"/>
                <a:ea typeface="Mukta Light" pitchFamily="34" charset="-122"/>
                <a:cs typeface="Mukta Light" pitchFamily="34" charset="-120"/>
              </a:rPr>
              <a:t> for playlist management and</a:t>
            </a:r>
          </a:p>
          <a:p>
            <a:pPr marL="0" indent="0" algn="l">
              <a:lnSpc>
                <a:spcPct val="100000"/>
              </a:lnSpc>
              <a:buNone/>
            </a:pPr>
            <a:r>
              <a:rPr lang="en-US" sz="1600" dirty="0">
                <a:solidFill>
                  <a:srgbClr val="DAD8E9"/>
                </a:solidFill>
                <a:latin typeface="Mukta Light" pitchFamily="34" charset="0"/>
                <a:ea typeface="Mukta Light" pitchFamily="34" charset="-122"/>
                <a:cs typeface="Mukta Light" pitchFamily="34" charset="-120"/>
              </a:rPr>
              <a:t> music analytics that is accessible, </a:t>
            </a:r>
            <a:r>
              <a:rPr lang="en-US" sz="1600" dirty="0" err="1">
                <a:solidFill>
                  <a:srgbClr val="DAD8E9"/>
                </a:solidFill>
                <a:latin typeface="Mukta Light" pitchFamily="34" charset="0"/>
                <a:ea typeface="Mukta Light" pitchFamily="34" charset="-122"/>
                <a:cs typeface="Mukta Light" pitchFamily="34" charset="-120"/>
              </a:rPr>
              <a:t>organised</a:t>
            </a:r>
            <a:r>
              <a:rPr lang="en-US" sz="1600" dirty="0">
                <a:solidFill>
                  <a:srgbClr val="DAD8E9"/>
                </a:solidFill>
                <a:latin typeface="Mukta Light" pitchFamily="34" charset="0"/>
                <a:ea typeface="Mukta Light" pitchFamily="34" charset="-122"/>
                <a:cs typeface="Mukta Light" pitchFamily="34" charset="-120"/>
              </a:rPr>
              <a:t>, and insightful</a:t>
            </a:r>
            <a:r>
              <a:rPr lang="en-US" sz="800" dirty="0">
                <a:solidFill>
                  <a:srgbClr val="DAD8E9"/>
                </a:solidFill>
                <a:latin typeface="Mukta Light" pitchFamily="34" charset="0"/>
                <a:ea typeface="Mukta Light" pitchFamily="34" charset="-122"/>
                <a:cs typeface="Mukta Light" pitchFamily="34" charset="-120"/>
              </a:rPr>
              <a:t>.</a:t>
            </a:r>
            <a:endParaRPr lang="en-US" sz="800" dirty="0"/>
          </a:p>
        </p:txBody>
      </p:sp>
      <p:sp>
        <p:nvSpPr>
          <p:cNvPr id="6" name="Shape 3"/>
          <p:cNvSpPr/>
          <p:nvPr/>
        </p:nvSpPr>
        <p:spPr>
          <a:xfrm>
            <a:off x="6227607" y="3339306"/>
            <a:ext cx="5250426" cy="12700"/>
          </a:xfrm>
          <a:prstGeom prst="roundRect">
            <a:avLst>
              <a:gd name="adj" fmla="val 49999"/>
            </a:avLst>
          </a:prstGeom>
          <a:solidFill>
            <a:srgbClr val="DAD8E9">
              <a:alpha val="50000"/>
            </a:srgbClr>
          </a:solidFill>
          <a:ln/>
        </p:spPr>
      </p:sp>
      <p:sp>
        <p:nvSpPr>
          <p:cNvPr id="7" name="Text 4"/>
          <p:cNvSpPr/>
          <p:nvPr/>
        </p:nvSpPr>
        <p:spPr>
          <a:xfrm>
            <a:off x="6227607" y="3435548"/>
            <a:ext cx="5250426" cy="142875"/>
          </a:xfrm>
          <a:prstGeom prst="rect">
            <a:avLst/>
          </a:prstGeom>
          <a:noFill/>
          <a:ln/>
        </p:spPr>
        <p:txBody>
          <a:bodyPr wrap="none" lIns="0" tIns="0" rIns="0" bIns="0" rtlCol="0" anchor="t"/>
          <a:lstStyle/>
          <a:p>
            <a:pPr marL="0" indent="0" algn="l">
              <a:lnSpc>
                <a:spcPct val="104000"/>
              </a:lnSpc>
              <a:buNone/>
            </a:pPr>
            <a:r>
              <a:rPr lang="en-US" sz="2400" dirty="0">
                <a:solidFill>
                  <a:srgbClr val="C6BFEE"/>
                </a:solidFill>
                <a:latin typeface="Prompt Medium" pitchFamily="34" charset="0"/>
                <a:ea typeface="Prompt Medium" pitchFamily="34" charset="-122"/>
                <a:cs typeface="Prompt Medium" pitchFamily="34" charset="-120"/>
              </a:rPr>
              <a:t>Core Focus Areas</a:t>
            </a:r>
            <a:endParaRPr lang="en-US" sz="2400" dirty="0"/>
          </a:p>
        </p:txBody>
      </p:sp>
      <p:sp>
        <p:nvSpPr>
          <p:cNvPr id="8" name="Text 5"/>
          <p:cNvSpPr/>
          <p:nvPr/>
        </p:nvSpPr>
        <p:spPr>
          <a:xfrm>
            <a:off x="6339901" y="3974306"/>
            <a:ext cx="5250426" cy="688975"/>
          </a:xfrm>
          <a:prstGeom prst="rect">
            <a:avLst/>
          </a:prstGeom>
          <a:noFill/>
          <a:ln/>
        </p:spPr>
        <p:txBody>
          <a:bodyPr wrap="square" lIns="0" tIns="0" rIns="0" bIns="0" rtlCol="0" anchor="t">
            <a:noAutofit/>
          </a:bodyPr>
          <a:lstStyle/>
          <a:p>
            <a:pPr marL="162560" indent="-162560" algn="l">
              <a:lnSpc>
                <a:spcPct val="100000"/>
              </a:lnSpc>
              <a:buSzPct val="100000"/>
              <a:buChar char="•"/>
            </a:pPr>
            <a:r>
              <a:rPr lang="en-US" dirty="0">
                <a:solidFill>
                  <a:srgbClr val="DAD8E9"/>
                </a:solidFill>
                <a:latin typeface="Mukta Light" pitchFamily="34" charset="0"/>
                <a:ea typeface="Mukta Light" pitchFamily="34" charset="-122"/>
                <a:cs typeface="Mukta Light" pitchFamily="34" charset="-120"/>
              </a:rPr>
              <a:t>Playlist creation and custom organization</a:t>
            </a:r>
            <a:endParaRPr lang="en-US" dirty="0"/>
          </a:p>
          <a:p>
            <a:pPr marL="162560" indent="-162560" algn="l">
              <a:lnSpc>
                <a:spcPct val="100000"/>
              </a:lnSpc>
              <a:buSzPct val="100000"/>
              <a:buChar char="•"/>
            </a:pPr>
            <a:r>
              <a:rPr lang="en-US" dirty="0">
                <a:solidFill>
                  <a:srgbClr val="DAD8E9"/>
                </a:solidFill>
                <a:latin typeface="Mukta Light" pitchFamily="34" charset="0"/>
                <a:ea typeface="Mukta Light" pitchFamily="34" charset="-122"/>
                <a:cs typeface="Mukta Light" pitchFamily="34" charset="-120"/>
              </a:rPr>
              <a:t>Real-time listening statistics tracking</a:t>
            </a:r>
            <a:endParaRPr lang="en-US" dirty="0"/>
          </a:p>
          <a:p>
            <a:pPr marL="162560" indent="-162560" algn="l">
              <a:lnSpc>
                <a:spcPct val="100000"/>
              </a:lnSpc>
              <a:buSzPct val="100000"/>
              <a:buChar char="•"/>
            </a:pPr>
            <a:r>
              <a:rPr lang="en-US" dirty="0">
                <a:solidFill>
                  <a:srgbClr val="DAD8E9"/>
                </a:solidFill>
                <a:latin typeface="Mukta Light" pitchFamily="34" charset="0"/>
                <a:ea typeface="Mukta Light" pitchFamily="34" charset="-122"/>
                <a:cs typeface="Mukta Light" pitchFamily="34" charset="-120"/>
              </a:rPr>
              <a:t>Music consumption pattern analysis</a:t>
            </a:r>
            <a:endParaRPr lang="en-US" dirty="0"/>
          </a:p>
          <a:p>
            <a:pPr marL="162560" indent="-162560" algn="l">
              <a:lnSpc>
                <a:spcPct val="100000"/>
              </a:lnSpc>
              <a:buSzPct val="100000"/>
              <a:buChar char="•"/>
            </a:pPr>
            <a:r>
              <a:rPr lang="en-US" dirty="0">
                <a:solidFill>
                  <a:srgbClr val="DAD8E9"/>
                </a:solidFill>
                <a:latin typeface="Mukta Light" pitchFamily="34" charset="0"/>
                <a:ea typeface="Mukta Light" pitchFamily="34" charset="-122"/>
                <a:cs typeface="Mukta Light" pitchFamily="34" charset="-120"/>
              </a:rPr>
              <a:t>Secure authentication and data persistence</a:t>
            </a:r>
            <a:endParaRPr lang="en-US" dirty="0"/>
          </a:p>
          <a:p>
            <a:pPr marL="162560" indent="-162560" algn="l">
              <a:lnSpc>
                <a:spcPct val="100000"/>
              </a:lnSpc>
              <a:buSzPct val="100000"/>
              <a:buChar char="•"/>
            </a:pPr>
            <a:r>
              <a:rPr lang="en-US" dirty="0">
                <a:solidFill>
                  <a:srgbClr val="DAD8E9"/>
                </a:solidFill>
                <a:latin typeface="Mukta Light" pitchFamily="34" charset="0"/>
                <a:ea typeface="Mukta Light" pitchFamily="34" charset="-122"/>
                <a:cs typeface="Mukta Light" pitchFamily="34" charset="-120"/>
              </a:rPr>
              <a:t>Music search and discovery functionality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0012" y="680442"/>
            <a:ext cx="10751670" cy="517922"/>
          </a:xfrm>
          <a:prstGeom prst="rect">
            <a:avLst/>
          </a:prstGeom>
          <a:noFill/>
          <a:ln/>
        </p:spPr>
        <p:txBody>
          <a:bodyPr wrap="none" lIns="0" tIns="0" rIns="0" bIns="0" rtlCol="0" anchor="t"/>
          <a:lstStyle/>
          <a:p>
            <a:pPr marL="0" indent="0" algn="l">
              <a:lnSpc>
                <a:spcPct val="104000"/>
              </a:lnSpc>
              <a:buNone/>
            </a:pPr>
            <a:r>
              <a:rPr lang="en-US" sz="3250" dirty="0">
                <a:solidFill>
                  <a:srgbClr val="C6BFEE"/>
                </a:solidFill>
                <a:latin typeface="Prompt Medium" pitchFamily="34" charset="0"/>
                <a:ea typeface="Prompt Medium" pitchFamily="34" charset="-122"/>
                <a:cs typeface="Prompt Medium" pitchFamily="34" charset="-120"/>
              </a:rPr>
              <a:t>Advantages</a:t>
            </a:r>
            <a:endParaRPr lang="en-US" sz="32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012" y="1536303"/>
            <a:ext cx="466118" cy="466130"/>
          </a:xfrm>
          <a:prstGeom prst="rect">
            <a:avLst/>
          </a:prstGeom>
        </p:spPr>
      </p:pic>
      <p:sp>
        <p:nvSpPr>
          <p:cNvPr id="4" name="Text 1"/>
          <p:cNvSpPr/>
          <p:nvPr/>
        </p:nvSpPr>
        <p:spPr>
          <a:xfrm>
            <a:off x="720012" y="2213570"/>
            <a:ext cx="5270269" cy="258961"/>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User-Centric Design</a:t>
            </a:r>
            <a:endParaRPr lang="en-US" sz="1600" dirty="0"/>
          </a:p>
        </p:txBody>
      </p:sp>
      <p:sp>
        <p:nvSpPr>
          <p:cNvPr id="5" name="Text 2"/>
          <p:cNvSpPr/>
          <p:nvPr/>
        </p:nvSpPr>
        <p:spPr>
          <a:xfrm>
            <a:off x="720012" y="2573834"/>
            <a:ext cx="5270269" cy="284262"/>
          </a:xfrm>
          <a:prstGeom prst="rect">
            <a:avLst/>
          </a:prstGeom>
          <a:noFill/>
          <a:ln/>
        </p:spPr>
        <p:txBody>
          <a:bodyPr wrap="none" lIns="0" tIns="0" rIns="0" bIns="0" rtlCol="0" anchor="t"/>
          <a:lstStyle/>
          <a:p>
            <a:pPr marL="0" indent="0" algn="l">
              <a:lnSpc>
                <a:spcPct val="127000"/>
              </a:lnSpc>
              <a:buNone/>
            </a:pPr>
            <a:r>
              <a:rPr lang="en-US" sz="1450" dirty="0">
                <a:solidFill>
                  <a:srgbClr val="DAD8E9"/>
                </a:solidFill>
                <a:latin typeface="Mukta Light" pitchFamily="34" charset="0"/>
                <a:ea typeface="Mukta Light" pitchFamily="34" charset="-122"/>
                <a:cs typeface="Mukta Light" pitchFamily="34" charset="-120"/>
              </a:rPr>
              <a:t>Intuitive interface makes playlist management effortless for all users.</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01414" y="1536303"/>
            <a:ext cx="466118" cy="466130"/>
          </a:xfrm>
          <a:prstGeom prst="rect">
            <a:avLst/>
          </a:prstGeom>
        </p:spPr>
      </p:pic>
      <p:sp>
        <p:nvSpPr>
          <p:cNvPr id="7" name="Text 3"/>
          <p:cNvSpPr/>
          <p:nvPr/>
        </p:nvSpPr>
        <p:spPr>
          <a:xfrm>
            <a:off x="6201414" y="2213570"/>
            <a:ext cx="5270269" cy="258961"/>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Real-Time Analytics</a:t>
            </a:r>
            <a:endParaRPr lang="en-US" sz="1600" dirty="0"/>
          </a:p>
        </p:txBody>
      </p:sp>
      <p:sp>
        <p:nvSpPr>
          <p:cNvPr id="8" name="Text 4"/>
          <p:cNvSpPr/>
          <p:nvPr/>
        </p:nvSpPr>
        <p:spPr>
          <a:xfrm>
            <a:off x="6201414" y="2573834"/>
            <a:ext cx="5270269" cy="284262"/>
          </a:xfrm>
          <a:prstGeom prst="rect">
            <a:avLst/>
          </a:prstGeom>
          <a:noFill/>
          <a:ln/>
        </p:spPr>
        <p:txBody>
          <a:bodyPr wrap="none" lIns="0" tIns="0" rIns="0" bIns="0" rtlCol="0" anchor="t"/>
          <a:lstStyle/>
          <a:p>
            <a:pPr marL="0" indent="0" algn="l">
              <a:lnSpc>
                <a:spcPct val="127000"/>
              </a:lnSpc>
              <a:buNone/>
            </a:pPr>
            <a:r>
              <a:rPr lang="en-US" sz="1450" dirty="0">
                <a:solidFill>
                  <a:srgbClr val="DAD8E9"/>
                </a:solidFill>
                <a:latin typeface="Mukta Light" pitchFamily="34" charset="0"/>
                <a:ea typeface="Mukta Light" pitchFamily="34" charset="-122"/>
                <a:cs typeface="Mukta Light" pitchFamily="34" charset="-120"/>
              </a:rPr>
              <a:t>Instant insights into listening habits, preferences, and play counts.</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012" y="3196034"/>
            <a:ext cx="466118" cy="466130"/>
          </a:xfrm>
          <a:prstGeom prst="rect">
            <a:avLst/>
          </a:prstGeom>
        </p:spPr>
      </p:pic>
      <p:sp>
        <p:nvSpPr>
          <p:cNvPr id="10" name="Text 5"/>
          <p:cNvSpPr/>
          <p:nvPr/>
        </p:nvSpPr>
        <p:spPr>
          <a:xfrm>
            <a:off x="720012" y="3873302"/>
            <a:ext cx="5270269" cy="258961"/>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Data Visualization</a:t>
            </a:r>
            <a:endParaRPr lang="en-US" sz="1600" dirty="0"/>
          </a:p>
        </p:txBody>
      </p:sp>
      <p:sp>
        <p:nvSpPr>
          <p:cNvPr id="11" name="Text 6"/>
          <p:cNvSpPr/>
          <p:nvPr/>
        </p:nvSpPr>
        <p:spPr>
          <a:xfrm>
            <a:off x="720012" y="4233565"/>
            <a:ext cx="5270269" cy="284262"/>
          </a:xfrm>
          <a:prstGeom prst="rect">
            <a:avLst/>
          </a:prstGeom>
          <a:noFill/>
          <a:ln/>
        </p:spPr>
        <p:txBody>
          <a:bodyPr wrap="none" lIns="0" tIns="0" rIns="0" bIns="0" rtlCol="0" anchor="t"/>
          <a:lstStyle/>
          <a:p>
            <a:pPr marL="0" indent="0" algn="l">
              <a:lnSpc>
                <a:spcPct val="127000"/>
              </a:lnSpc>
              <a:buNone/>
            </a:pPr>
            <a:r>
              <a:rPr lang="en-US" sz="1450" dirty="0">
                <a:solidFill>
                  <a:srgbClr val="DAD8E9"/>
                </a:solidFill>
                <a:latin typeface="Mukta Light" pitchFamily="34" charset="0"/>
                <a:ea typeface="Mukta Light" pitchFamily="34" charset="-122"/>
                <a:cs typeface="Mukta Light" pitchFamily="34" charset="-120"/>
              </a:rPr>
              <a:t>Charts and graphs make statistics easy to interpret at a glance.</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01414" y="3196034"/>
            <a:ext cx="466118" cy="466130"/>
          </a:xfrm>
          <a:prstGeom prst="rect">
            <a:avLst/>
          </a:prstGeom>
        </p:spPr>
      </p:pic>
      <p:sp>
        <p:nvSpPr>
          <p:cNvPr id="13" name="Text 7"/>
          <p:cNvSpPr/>
          <p:nvPr/>
        </p:nvSpPr>
        <p:spPr>
          <a:xfrm>
            <a:off x="6201414" y="3873302"/>
            <a:ext cx="5270269" cy="258961"/>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Security</a:t>
            </a:r>
            <a:endParaRPr lang="en-US" sz="1600" dirty="0"/>
          </a:p>
        </p:txBody>
      </p:sp>
      <p:sp>
        <p:nvSpPr>
          <p:cNvPr id="14" name="Text 8"/>
          <p:cNvSpPr/>
          <p:nvPr/>
        </p:nvSpPr>
        <p:spPr>
          <a:xfrm>
            <a:off x="6201414" y="4233565"/>
            <a:ext cx="5270269" cy="284262"/>
          </a:xfrm>
          <a:prstGeom prst="rect">
            <a:avLst/>
          </a:prstGeom>
          <a:noFill/>
          <a:ln/>
        </p:spPr>
        <p:txBody>
          <a:bodyPr wrap="none" lIns="0" tIns="0" rIns="0" bIns="0" rtlCol="0" anchor="t"/>
          <a:lstStyle/>
          <a:p>
            <a:pPr marL="0" indent="0" algn="l">
              <a:lnSpc>
                <a:spcPct val="127000"/>
              </a:lnSpc>
              <a:buNone/>
            </a:pPr>
            <a:r>
              <a:rPr lang="en-US" sz="1450" dirty="0">
                <a:solidFill>
                  <a:srgbClr val="DAD8E9"/>
                </a:solidFill>
                <a:latin typeface="Mukta Light" pitchFamily="34" charset="0"/>
                <a:ea typeface="Mukta Light" pitchFamily="34" charset="-122"/>
                <a:cs typeface="Mukta Light" pitchFamily="34" charset="-120"/>
              </a:rPr>
              <a:t>Secure authentication protects user data and privacy effectively.</a:t>
            </a:r>
            <a:endParaRPr lang="en-US" sz="145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20012" y="4855766"/>
            <a:ext cx="466118" cy="466130"/>
          </a:xfrm>
          <a:prstGeom prst="rect">
            <a:avLst/>
          </a:prstGeom>
        </p:spPr>
      </p:pic>
      <p:sp>
        <p:nvSpPr>
          <p:cNvPr id="16" name="Text 9"/>
          <p:cNvSpPr/>
          <p:nvPr/>
        </p:nvSpPr>
        <p:spPr>
          <a:xfrm>
            <a:off x="720012" y="5533033"/>
            <a:ext cx="5270269" cy="258961"/>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Accessibility</a:t>
            </a:r>
            <a:endParaRPr lang="en-US" sz="1600" dirty="0"/>
          </a:p>
        </p:txBody>
      </p:sp>
      <p:sp>
        <p:nvSpPr>
          <p:cNvPr id="17" name="Text 10"/>
          <p:cNvSpPr/>
          <p:nvPr/>
        </p:nvSpPr>
        <p:spPr>
          <a:xfrm>
            <a:off x="720012" y="5893296"/>
            <a:ext cx="5270269" cy="284262"/>
          </a:xfrm>
          <a:prstGeom prst="rect">
            <a:avLst/>
          </a:prstGeom>
          <a:noFill/>
          <a:ln/>
        </p:spPr>
        <p:txBody>
          <a:bodyPr wrap="none" lIns="0" tIns="0" rIns="0" bIns="0" rtlCol="0" anchor="t"/>
          <a:lstStyle/>
          <a:p>
            <a:pPr marL="0" indent="0" algn="l">
              <a:lnSpc>
                <a:spcPct val="127000"/>
              </a:lnSpc>
              <a:buNone/>
            </a:pPr>
            <a:r>
              <a:rPr lang="en-US" sz="1450" dirty="0">
                <a:solidFill>
                  <a:srgbClr val="DAD8E9"/>
                </a:solidFill>
                <a:latin typeface="Mukta Light" pitchFamily="34" charset="0"/>
                <a:ea typeface="Mukta Light" pitchFamily="34" charset="-122"/>
                <a:cs typeface="Mukta Light" pitchFamily="34" charset="-120"/>
              </a:rPr>
              <a:t>Web-based platform accessible across all devices and browsers.</a:t>
            </a:r>
            <a:endParaRPr lang="en-US" sz="1450" dirty="0"/>
          </a:p>
        </p:txBody>
      </p:sp>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01414" y="4855766"/>
            <a:ext cx="466118" cy="466130"/>
          </a:xfrm>
          <a:prstGeom prst="rect">
            <a:avLst/>
          </a:prstGeom>
        </p:spPr>
      </p:pic>
      <p:sp>
        <p:nvSpPr>
          <p:cNvPr id="19" name="Text 11"/>
          <p:cNvSpPr/>
          <p:nvPr/>
        </p:nvSpPr>
        <p:spPr>
          <a:xfrm>
            <a:off x="6201414" y="5533033"/>
            <a:ext cx="5270269" cy="258961"/>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Personalization</a:t>
            </a:r>
            <a:endParaRPr lang="en-US" sz="1600" dirty="0"/>
          </a:p>
        </p:txBody>
      </p:sp>
      <p:sp>
        <p:nvSpPr>
          <p:cNvPr id="20" name="Text 12"/>
          <p:cNvSpPr/>
          <p:nvPr/>
        </p:nvSpPr>
        <p:spPr>
          <a:xfrm>
            <a:off x="6201414" y="5893296"/>
            <a:ext cx="5270269" cy="284262"/>
          </a:xfrm>
          <a:prstGeom prst="rect">
            <a:avLst/>
          </a:prstGeom>
          <a:noFill/>
          <a:ln/>
        </p:spPr>
        <p:txBody>
          <a:bodyPr wrap="none" lIns="0" tIns="0" rIns="0" bIns="0" rtlCol="0" anchor="t"/>
          <a:lstStyle/>
          <a:p>
            <a:pPr marL="0" indent="0" algn="l">
              <a:lnSpc>
                <a:spcPct val="127000"/>
              </a:lnSpc>
              <a:buNone/>
            </a:pPr>
            <a:r>
              <a:rPr lang="en-US" sz="1450" dirty="0">
                <a:solidFill>
                  <a:srgbClr val="DAD8E9"/>
                </a:solidFill>
                <a:latin typeface="Mukta Light" pitchFamily="34" charset="0"/>
                <a:ea typeface="Mukta Light" pitchFamily="34" charset="-122"/>
                <a:cs typeface="Mukta Light" pitchFamily="34" charset="-120"/>
              </a:rPr>
              <a:t>Customizable playlists and preference tracking for every user.</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20012" y="587077"/>
            <a:ext cx="10751670" cy="357187"/>
          </a:xfrm>
          <a:prstGeom prst="rect">
            <a:avLst/>
          </a:prstGeom>
          <a:noFill/>
          <a:ln/>
        </p:spPr>
        <p:txBody>
          <a:bodyPr wrap="none" lIns="0" tIns="0" rIns="0" bIns="0" rtlCol="0" anchor="t"/>
          <a:lstStyle/>
          <a:p>
            <a:pPr marL="0" indent="0" algn="l">
              <a:lnSpc>
                <a:spcPct val="104000"/>
              </a:lnSpc>
              <a:buNone/>
            </a:pPr>
            <a:r>
              <a:rPr lang="en-US" sz="3200" dirty="0">
                <a:solidFill>
                  <a:srgbClr val="C6BFEE"/>
                </a:solidFill>
                <a:latin typeface="Prompt Medium" pitchFamily="34" charset="0"/>
                <a:ea typeface="Prompt Medium" pitchFamily="34" charset="-122"/>
                <a:cs typeface="Prompt Medium" pitchFamily="34" charset="-120"/>
              </a:rPr>
              <a:t>Project Development</a:t>
            </a:r>
            <a:endParaRPr lang="en-US" sz="3200" dirty="0"/>
          </a:p>
        </p:txBody>
      </p:sp>
      <p:pic>
        <p:nvPicPr>
          <p:cNvPr id="3" name="Image 0" descr="preencoded.png"/>
          <p:cNvPicPr>
            <a:picLocks noChangeAspect="1"/>
          </p:cNvPicPr>
          <p:nvPr/>
        </p:nvPicPr>
        <p:blipFill>
          <a:blip r:embed="rId3"/>
          <a:stretch>
            <a:fillRect/>
          </a:stretch>
        </p:blipFill>
        <p:spPr>
          <a:xfrm>
            <a:off x="720013" y="1155204"/>
            <a:ext cx="6578254" cy="3731221"/>
          </a:xfrm>
          <a:prstGeom prst="rect">
            <a:avLst/>
          </a:prstGeom>
        </p:spPr>
      </p:pic>
      <p:sp>
        <p:nvSpPr>
          <p:cNvPr id="4" name="Text 1"/>
          <p:cNvSpPr/>
          <p:nvPr/>
        </p:nvSpPr>
        <p:spPr>
          <a:xfrm>
            <a:off x="7938294" y="2092324"/>
            <a:ext cx="3559086" cy="178594"/>
          </a:xfrm>
          <a:prstGeom prst="rect">
            <a:avLst/>
          </a:prstGeom>
          <a:noFill/>
          <a:ln/>
        </p:spPr>
        <p:txBody>
          <a:bodyPr wrap="none" lIns="0" tIns="0" rIns="0" bIns="0" rtlCol="0" anchor="t"/>
          <a:lstStyle/>
          <a:p>
            <a:pPr marL="0" indent="0" algn="l">
              <a:lnSpc>
                <a:spcPct val="104000"/>
              </a:lnSpc>
              <a:buNone/>
            </a:pPr>
            <a:r>
              <a:rPr lang="en-US" sz="2400" dirty="0">
                <a:solidFill>
                  <a:srgbClr val="C6BFEE"/>
                </a:solidFill>
                <a:latin typeface="Prompt Medium" pitchFamily="34" charset="0"/>
                <a:ea typeface="Prompt Medium" pitchFamily="34" charset="-122"/>
                <a:cs typeface="Prompt Medium" pitchFamily="34" charset="-120"/>
              </a:rPr>
              <a:t>Built Entirely in Java</a:t>
            </a:r>
            <a:endParaRPr lang="en-US" sz="2400" dirty="0"/>
          </a:p>
        </p:txBody>
      </p:sp>
      <p:sp>
        <p:nvSpPr>
          <p:cNvPr id="5" name="Text 2"/>
          <p:cNvSpPr/>
          <p:nvPr/>
        </p:nvSpPr>
        <p:spPr>
          <a:xfrm>
            <a:off x="7904747" y="2736601"/>
            <a:ext cx="3559086" cy="334169"/>
          </a:xfrm>
          <a:prstGeom prst="rect">
            <a:avLst/>
          </a:prstGeom>
          <a:noFill/>
          <a:ln/>
        </p:spPr>
        <p:txBody>
          <a:bodyPr wrap="square" lIns="0" tIns="0" rIns="0" bIns="0" rtlCol="0" anchor="t">
            <a:normAutofit fontScale="25000" lnSpcReduction="20000"/>
          </a:bodyPr>
          <a:lstStyle/>
          <a:p>
            <a:pPr marL="0" indent="0" algn="l">
              <a:lnSpc>
                <a:spcPct val="108000"/>
              </a:lnSpc>
              <a:buNone/>
            </a:pPr>
            <a:r>
              <a:rPr lang="en-US" sz="7200" dirty="0">
                <a:solidFill>
                  <a:srgbClr val="DAD8E9"/>
                </a:solidFill>
                <a:latin typeface="Mukta Light" pitchFamily="34" charset="0"/>
                <a:ea typeface="Mukta Light" pitchFamily="34" charset="-122"/>
                <a:cs typeface="Mukta Light" pitchFamily="34" charset="-120"/>
              </a:rPr>
              <a:t>The project was developed using core Java concepts taught during the course, without any external libraries or frameworks</a:t>
            </a:r>
            <a:r>
              <a:rPr lang="en-US" sz="1000" dirty="0">
                <a:solidFill>
                  <a:srgbClr val="DAD8E9"/>
                </a:solidFill>
                <a:latin typeface="Mukta Light" pitchFamily="34" charset="0"/>
                <a:ea typeface="Mukta Light" pitchFamily="34" charset="-122"/>
                <a:cs typeface="Mukta Light" pitchFamily="34" charset="-120"/>
              </a:rPr>
              <a:t>.</a:t>
            </a:r>
            <a:endParaRPr lang="en-US" sz="1000" dirty="0"/>
          </a:p>
        </p:txBody>
      </p:sp>
      <p:sp>
        <p:nvSpPr>
          <p:cNvPr id="6" name="Shape 3"/>
          <p:cNvSpPr/>
          <p:nvPr/>
        </p:nvSpPr>
        <p:spPr>
          <a:xfrm>
            <a:off x="7883084" y="3993555"/>
            <a:ext cx="3559086" cy="19050"/>
          </a:xfrm>
          <a:prstGeom prst="roundRect">
            <a:avLst>
              <a:gd name="adj" fmla="val 49999"/>
            </a:avLst>
          </a:prstGeom>
          <a:solidFill>
            <a:srgbClr val="DAD8E9">
              <a:alpha val="50000"/>
            </a:srgbClr>
          </a:solidFill>
          <a:ln/>
        </p:spPr>
      </p:sp>
      <p:sp>
        <p:nvSpPr>
          <p:cNvPr id="7" name="Shape 4"/>
          <p:cNvSpPr/>
          <p:nvPr/>
        </p:nvSpPr>
        <p:spPr>
          <a:xfrm>
            <a:off x="720012" y="5233988"/>
            <a:ext cx="289315" cy="289322"/>
          </a:xfrm>
          <a:prstGeom prst="roundRect">
            <a:avLst>
              <a:gd name="adj" fmla="val 18667"/>
            </a:avLst>
          </a:prstGeom>
          <a:solidFill>
            <a:srgbClr val="542C49"/>
          </a:solidFill>
          <a:ln w="6350">
            <a:solidFill>
              <a:srgbClr val="6D4562"/>
            </a:solidFill>
            <a:prstDash val="solid"/>
          </a:ln>
        </p:spPr>
      </p:sp>
      <p:sp>
        <p:nvSpPr>
          <p:cNvPr id="8" name="Text 5"/>
          <p:cNvSpPr/>
          <p:nvPr/>
        </p:nvSpPr>
        <p:spPr>
          <a:xfrm>
            <a:off x="778947" y="5271492"/>
            <a:ext cx="171446" cy="214313"/>
          </a:xfrm>
          <a:prstGeom prst="rect">
            <a:avLst/>
          </a:prstGeom>
          <a:noFill/>
          <a:ln/>
        </p:spPr>
        <p:txBody>
          <a:bodyPr wrap="none" lIns="0" tIns="0" rIns="0" bIns="0" rtlCol="0" anchor="ctr"/>
          <a:lstStyle/>
          <a:p>
            <a:pPr marL="0" indent="0" algn="ctr">
              <a:lnSpc>
                <a:spcPct val="100000"/>
              </a:lnSpc>
              <a:buNone/>
            </a:pPr>
            <a:r>
              <a:rPr lang="en-US" sz="1300" dirty="0">
                <a:solidFill>
                  <a:srgbClr val="DAD8E9"/>
                </a:solidFill>
                <a:latin typeface="Prompt Medium" pitchFamily="34" charset="0"/>
                <a:ea typeface="Prompt Medium" pitchFamily="34" charset="-122"/>
                <a:cs typeface="Prompt Medium" pitchFamily="34" charset="-120"/>
              </a:rPr>
              <a:t>1</a:t>
            </a:r>
            <a:endParaRPr lang="en-US" sz="1300" dirty="0"/>
          </a:p>
        </p:txBody>
      </p:sp>
      <p:sp>
        <p:nvSpPr>
          <p:cNvPr id="9" name="Text 6"/>
          <p:cNvSpPr/>
          <p:nvPr/>
        </p:nvSpPr>
        <p:spPr>
          <a:xfrm>
            <a:off x="1089692" y="5278140"/>
            <a:ext cx="4955952" cy="178594"/>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Prompt Medium" pitchFamily="34" charset="0"/>
                <a:ea typeface="Prompt Medium" pitchFamily="34" charset="-122"/>
                <a:cs typeface="Prompt Medium" pitchFamily="34" charset="-120"/>
              </a:rPr>
              <a:t>Arrays</a:t>
            </a:r>
            <a:endParaRPr lang="en-US" sz="1400" dirty="0"/>
          </a:p>
        </p:txBody>
      </p:sp>
      <p:sp>
        <p:nvSpPr>
          <p:cNvPr id="10" name="Text 7"/>
          <p:cNvSpPr/>
          <p:nvPr/>
        </p:nvSpPr>
        <p:spPr>
          <a:xfrm>
            <a:off x="1089692" y="5526353"/>
            <a:ext cx="4955952" cy="167084"/>
          </a:xfrm>
          <a:prstGeom prst="rect">
            <a:avLst/>
          </a:prstGeom>
          <a:noFill/>
          <a:ln/>
        </p:spPr>
        <p:txBody>
          <a:bodyPr wrap="none" lIns="0" tIns="0" rIns="0" bIns="0" rtlCol="0" anchor="t"/>
          <a:lstStyle/>
          <a:p>
            <a:pPr marL="0" indent="0" algn="l">
              <a:lnSpc>
                <a:spcPct val="108000"/>
              </a:lnSpc>
              <a:buNone/>
            </a:pPr>
            <a:r>
              <a:rPr lang="en-US" sz="1400" dirty="0">
                <a:solidFill>
                  <a:srgbClr val="DAD8E9"/>
                </a:solidFill>
                <a:latin typeface="Mukta Light" pitchFamily="34" charset="0"/>
                <a:ea typeface="Mukta Light" pitchFamily="34" charset="-122"/>
                <a:cs typeface="Mukta Light" pitchFamily="34" charset="-120"/>
              </a:rPr>
              <a:t>Used to store song names, durations, and play counts</a:t>
            </a:r>
            <a:r>
              <a:rPr lang="en-US" sz="1200" dirty="0">
                <a:solidFill>
                  <a:srgbClr val="DAD8E9"/>
                </a:solidFill>
                <a:latin typeface="Mukta Light" pitchFamily="34" charset="0"/>
                <a:ea typeface="Mukta Light" pitchFamily="34" charset="-122"/>
                <a:cs typeface="Mukta Light" pitchFamily="34" charset="-120"/>
              </a:rPr>
              <a:t>.</a:t>
            </a:r>
            <a:endParaRPr lang="en-US" sz="1200" dirty="0"/>
          </a:p>
        </p:txBody>
      </p:sp>
      <p:sp>
        <p:nvSpPr>
          <p:cNvPr id="11" name="Shape 8"/>
          <p:cNvSpPr/>
          <p:nvPr/>
        </p:nvSpPr>
        <p:spPr>
          <a:xfrm>
            <a:off x="6146051" y="5233988"/>
            <a:ext cx="289315" cy="289322"/>
          </a:xfrm>
          <a:prstGeom prst="roundRect">
            <a:avLst>
              <a:gd name="adj" fmla="val 18667"/>
            </a:avLst>
          </a:prstGeom>
          <a:solidFill>
            <a:srgbClr val="542C49"/>
          </a:solidFill>
          <a:ln w="6350">
            <a:solidFill>
              <a:srgbClr val="6D4562"/>
            </a:solidFill>
            <a:prstDash val="solid"/>
          </a:ln>
        </p:spPr>
      </p:sp>
      <p:sp>
        <p:nvSpPr>
          <p:cNvPr id="12" name="Text 9"/>
          <p:cNvSpPr/>
          <p:nvPr/>
        </p:nvSpPr>
        <p:spPr>
          <a:xfrm>
            <a:off x="6204985" y="5271492"/>
            <a:ext cx="171446" cy="214313"/>
          </a:xfrm>
          <a:prstGeom prst="rect">
            <a:avLst/>
          </a:prstGeom>
          <a:noFill/>
          <a:ln/>
        </p:spPr>
        <p:txBody>
          <a:bodyPr wrap="none" lIns="0" tIns="0" rIns="0" bIns="0" rtlCol="0" anchor="ctr"/>
          <a:lstStyle/>
          <a:p>
            <a:pPr marL="0" indent="0" algn="ctr">
              <a:lnSpc>
                <a:spcPct val="100000"/>
              </a:lnSpc>
              <a:buNone/>
            </a:pPr>
            <a:r>
              <a:rPr lang="en-US" sz="1300" dirty="0">
                <a:solidFill>
                  <a:srgbClr val="DAD8E9"/>
                </a:solidFill>
                <a:latin typeface="Prompt Medium" pitchFamily="34" charset="0"/>
                <a:ea typeface="Prompt Medium" pitchFamily="34" charset="-122"/>
                <a:cs typeface="Prompt Medium" pitchFamily="34" charset="-120"/>
              </a:rPr>
              <a:t>2</a:t>
            </a:r>
            <a:endParaRPr lang="en-US" sz="1300" dirty="0"/>
          </a:p>
        </p:txBody>
      </p:sp>
      <p:sp>
        <p:nvSpPr>
          <p:cNvPr id="13" name="Text 10"/>
          <p:cNvSpPr/>
          <p:nvPr/>
        </p:nvSpPr>
        <p:spPr>
          <a:xfrm>
            <a:off x="6515731" y="5278140"/>
            <a:ext cx="4955952" cy="178594"/>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Methods</a:t>
            </a:r>
            <a:endParaRPr lang="en-US" sz="1600" dirty="0"/>
          </a:p>
        </p:txBody>
      </p:sp>
      <p:sp>
        <p:nvSpPr>
          <p:cNvPr id="14" name="Text 11"/>
          <p:cNvSpPr/>
          <p:nvPr/>
        </p:nvSpPr>
        <p:spPr>
          <a:xfrm>
            <a:off x="6557571" y="5456734"/>
            <a:ext cx="4955952" cy="167084"/>
          </a:xfrm>
          <a:prstGeom prst="rect">
            <a:avLst/>
          </a:prstGeom>
          <a:noFill/>
          <a:ln/>
        </p:spPr>
        <p:txBody>
          <a:bodyPr wrap="none" lIns="0" tIns="0" rIns="0" bIns="0" rtlCol="0" anchor="t"/>
          <a:lstStyle/>
          <a:p>
            <a:pPr marL="0" indent="0" algn="l">
              <a:lnSpc>
                <a:spcPct val="108000"/>
              </a:lnSpc>
              <a:buNone/>
            </a:pPr>
            <a:r>
              <a:rPr lang="en-US" sz="1400" dirty="0">
                <a:solidFill>
                  <a:srgbClr val="DAD8E9"/>
                </a:solidFill>
                <a:latin typeface="Mukta Light" pitchFamily="34" charset="0"/>
                <a:ea typeface="Mukta Light" pitchFamily="34" charset="-122"/>
                <a:cs typeface="Mukta Light" pitchFamily="34" charset="-120"/>
              </a:rPr>
              <a:t>Separate methods handle adding, displaying, and updating songs.</a:t>
            </a:r>
            <a:endParaRPr lang="en-US" sz="1400" dirty="0"/>
          </a:p>
        </p:txBody>
      </p:sp>
      <p:sp>
        <p:nvSpPr>
          <p:cNvPr id="15" name="Shape 12"/>
          <p:cNvSpPr/>
          <p:nvPr/>
        </p:nvSpPr>
        <p:spPr>
          <a:xfrm>
            <a:off x="720012" y="5832773"/>
            <a:ext cx="289315" cy="289322"/>
          </a:xfrm>
          <a:prstGeom prst="roundRect">
            <a:avLst>
              <a:gd name="adj" fmla="val 18667"/>
            </a:avLst>
          </a:prstGeom>
          <a:solidFill>
            <a:srgbClr val="542C49"/>
          </a:solidFill>
          <a:ln w="6350">
            <a:solidFill>
              <a:srgbClr val="6D4562"/>
            </a:solidFill>
            <a:prstDash val="solid"/>
          </a:ln>
        </p:spPr>
      </p:sp>
      <p:sp>
        <p:nvSpPr>
          <p:cNvPr id="16" name="Text 13"/>
          <p:cNvSpPr/>
          <p:nvPr/>
        </p:nvSpPr>
        <p:spPr>
          <a:xfrm>
            <a:off x="778947" y="5870277"/>
            <a:ext cx="171446" cy="214313"/>
          </a:xfrm>
          <a:prstGeom prst="rect">
            <a:avLst/>
          </a:prstGeom>
          <a:noFill/>
          <a:ln/>
        </p:spPr>
        <p:txBody>
          <a:bodyPr wrap="none" lIns="0" tIns="0" rIns="0" bIns="0" rtlCol="0" anchor="ctr"/>
          <a:lstStyle/>
          <a:p>
            <a:pPr marL="0" indent="0" algn="ctr">
              <a:lnSpc>
                <a:spcPct val="100000"/>
              </a:lnSpc>
              <a:buNone/>
            </a:pPr>
            <a:r>
              <a:rPr lang="en-US" sz="1300" dirty="0">
                <a:solidFill>
                  <a:srgbClr val="DAD8E9"/>
                </a:solidFill>
                <a:latin typeface="Prompt Medium" pitchFamily="34" charset="0"/>
                <a:ea typeface="Prompt Medium" pitchFamily="34" charset="-122"/>
                <a:cs typeface="Prompt Medium" pitchFamily="34" charset="-120"/>
              </a:rPr>
              <a:t>3</a:t>
            </a:r>
            <a:endParaRPr lang="en-US" sz="1300" dirty="0"/>
          </a:p>
        </p:txBody>
      </p:sp>
      <p:sp>
        <p:nvSpPr>
          <p:cNvPr id="17" name="Text 14"/>
          <p:cNvSpPr/>
          <p:nvPr/>
        </p:nvSpPr>
        <p:spPr>
          <a:xfrm>
            <a:off x="1089692" y="5876925"/>
            <a:ext cx="4955952" cy="178594"/>
          </a:xfrm>
          <a:prstGeom prst="rect">
            <a:avLst/>
          </a:prstGeom>
          <a:noFill/>
          <a:ln/>
        </p:spPr>
        <p:txBody>
          <a:bodyPr wrap="none" lIns="0" tIns="0" rIns="0" bIns="0" rtlCol="0" anchor="t"/>
          <a:lstStyle/>
          <a:p>
            <a:pPr marL="0" indent="0" algn="l">
              <a:lnSpc>
                <a:spcPct val="104000"/>
              </a:lnSpc>
              <a:buNone/>
            </a:pPr>
            <a:r>
              <a:rPr lang="en-US" sz="1400" dirty="0">
                <a:solidFill>
                  <a:srgbClr val="DAD8E9"/>
                </a:solidFill>
                <a:latin typeface="Prompt Medium" pitchFamily="34" charset="0"/>
                <a:ea typeface="Prompt Medium" pitchFamily="34" charset="-122"/>
                <a:cs typeface="Prompt Medium" pitchFamily="34" charset="-120"/>
              </a:rPr>
              <a:t>Loops &amp; Conditions</a:t>
            </a:r>
            <a:endParaRPr lang="en-US" sz="1400" dirty="0"/>
          </a:p>
        </p:txBody>
      </p:sp>
      <p:sp>
        <p:nvSpPr>
          <p:cNvPr id="18" name="Text 15"/>
          <p:cNvSpPr/>
          <p:nvPr/>
        </p:nvSpPr>
        <p:spPr>
          <a:xfrm>
            <a:off x="1089692" y="6103739"/>
            <a:ext cx="4955952" cy="167084"/>
          </a:xfrm>
          <a:prstGeom prst="rect">
            <a:avLst/>
          </a:prstGeom>
          <a:noFill/>
          <a:ln/>
        </p:spPr>
        <p:txBody>
          <a:bodyPr wrap="none" lIns="0" tIns="0" rIns="0" bIns="0" rtlCol="0" anchor="t"/>
          <a:lstStyle/>
          <a:p>
            <a:pPr marL="0" indent="0" algn="l">
              <a:lnSpc>
                <a:spcPct val="108000"/>
              </a:lnSpc>
              <a:buNone/>
            </a:pPr>
            <a:r>
              <a:rPr lang="en-US" sz="1400" dirty="0">
                <a:solidFill>
                  <a:srgbClr val="DAD8E9"/>
                </a:solidFill>
                <a:latin typeface="Mukta Light" pitchFamily="34" charset="0"/>
                <a:ea typeface="Mukta Light" pitchFamily="34" charset="-122"/>
                <a:cs typeface="Mukta Light" pitchFamily="34" charset="-120"/>
              </a:rPr>
              <a:t>Control program flow and handle user input validation</a:t>
            </a:r>
            <a:r>
              <a:rPr lang="en-US" sz="1200" dirty="0">
                <a:solidFill>
                  <a:srgbClr val="DAD8E9"/>
                </a:solidFill>
                <a:latin typeface="Mukta Light" pitchFamily="34" charset="0"/>
                <a:ea typeface="Mukta Light" pitchFamily="34" charset="-122"/>
                <a:cs typeface="Mukta Light" pitchFamily="34" charset="-120"/>
              </a:rPr>
              <a:t>.</a:t>
            </a:r>
            <a:endParaRPr lang="en-US" sz="1200" dirty="0"/>
          </a:p>
        </p:txBody>
      </p:sp>
      <p:sp>
        <p:nvSpPr>
          <p:cNvPr id="19" name="Shape 16"/>
          <p:cNvSpPr/>
          <p:nvPr/>
        </p:nvSpPr>
        <p:spPr>
          <a:xfrm>
            <a:off x="6146051" y="5832773"/>
            <a:ext cx="289315" cy="289322"/>
          </a:xfrm>
          <a:prstGeom prst="roundRect">
            <a:avLst>
              <a:gd name="adj" fmla="val 18667"/>
            </a:avLst>
          </a:prstGeom>
          <a:solidFill>
            <a:srgbClr val="542C49"/>
          </a:solidFill>
          <a:ln w="6350">
            <a:solidFill>
              <a:srgbClr val="6D4562"/>
            </a:solidFill>
            <a:prstDash val="solid"/>
          </a:ln>
        </p:spPr>
      </p:sp>
      <p:sp>
        <p:nvSpPr>
          <p:cNvPr id="20" name="Text 17"/>
          <p:cNvSpPr/>
          <p:nvPr/>
        </p:nvSpPr>
        <p:spPr>
          <a:xfrm>
            <a:off x="6204985" y="5870277"/>
            <a:ext cx="171446" cy="214313"/>
          </a:xfrm>
          <a:prstGeom prst="rect">
            <a:avLst/>
          </a:prstGeom>
          <a:noFill/>
          <a:ln/>
        </p:spPr>
        <p:txBody>
          <a:bodyPr wrap="none" lIns="0" tIns="0" rIns="0" bIns="0" rtlCol="0" anchor="ctr"/>
          <a:lstStyle/>
          <a:p>
            <a:pPr marL="0" indent="0" algn="ctr">
              <a:lnSpc>
                <a:spcPct val="100000"/>
              </a:lnSpc>
              <a:buNone/>
            </a:pPr>
            <a:r>
              <a:rPr lang="en-US" sz="1300" dirty="0">
                <a:solidFill>
                  <a:srgbClr val="DAD8E9"/>
                </a:solidFill>
                <a:latin typeface="Prompt Medium" pitchFamily="34" charset="0"/>
                <a:ea typeface="Prompt Medium" pitchFamily="34" charset="-122"/>
                <a:cs typeface="Prompt Medium" pitchFamily="34" charset="-120"/>
              </a:rPr>
              <a:t>4</a:t>
            </a:r>
            <a:endParaRPr lang="en-US" sz="1300" dirty="0"/>
          </a:p>
        </p:txBody>
      </p:sp>
      <p:sp>
        <p:nvSpPr>
          <p:cNvPr id="21" name="Text 18"/>
          <p:cNvSpPr/>
          <p:nvPr/>
        </p:nvSpPr>
        <p:spPr>
          <a:xfrm>
            <a:off x="6515731" y="5876925"/>
            <a:ext cx="4955952" cy="178594"/>
          </a:xfrm>
          <a:prstGeom prst="rect">
            <a:avLst/>
          </a:prstGeom>
          <a:noFill/>
          <a:ln/>
        </p:spPr>
        <p:txBody>
          <a:bodyPr wrap="none" lIns="0" tIns="0" rIns="0" bIns="0" rtlCol="0" anchor="t"/>
          <a:lstStyle/>
          <a:p>
            <a:pPr marL="0" indent="0" algn="l">
              <a:lnSpc>
                <a:spcPct val="104000"/>
              </a:lnSpc>
              <a:buNone/>
            </a:pPr>
            <a:r>
              <a:rPr lang="en-US" sz="1600" dirty="0">
                <a:solidFill>
                  <a:srgbClr val="DAD8E9"/>
                </a:solidFill>
                <a:latin typeface="Prompt Medium" pitchFamily="34" charset="0"/>
                <a:ea typeface="Prompt Medium" pitchFamily="34" charset="-122"/>
                <a:cs typeface="Prompt Medium" pitchFamily="34" charset="-120"/>
              </a:rPr>
              <a:t>Switch Statement</a:t>
            </a:r>
            <a:endParaRPr lang="en-US" sz="1600" dirty="0"/>
          </a:p>
        </p:txBody>
      </p:sp>
      <p:sp>
        <p:nvSpPr>
          <p:cNvPr id="22" name="Text 19"/>
          <p:cNvSpPr/>
          <p:nvPr/>
        </p:nvSpPr>
        <p:spPr>
          <a:xfrm>
            <a:off x="6515731" y="6103739"/>
            <a:ext cx="4955952" cy="167084"/>
          </a:xfrm>
          <a:prstGeom prst="rect">
            <a:avLst/>
          </a:prstGeom>
          <a:noFill/>
          <a:ln/>
        </p:spPr>
        <p:txBody>
          <a:bodyPr wrap="none" lIns="0" tIns="0" rIns="0" bIns="0" rtlCol="0" anchor="t"/>
          <a:lstStyle/>
          <a:p>
            <a:pPr marL="0" indent="0" algn="l">
              <a:lnSpc>
                <a:spcPct val="108000"/>
              </a:lnSpc>
              <a:buNone/>
            </a:pPr>
            <a:r>
              <a:rPr lang="en-US" sz="1400" dirty="0">
                <a:solidFill>
                  <a:srgbClr val="DAD8E9"/>
                </a:solidFill>
                <a:latin typeface="Mukta Light" pitchFamily="34" charset="0"/>
                <a:ea typeface="Mukta Light" pitchFamily="34" charset="-122"/>
                <a:cs typeface="Mukta Light" pitchFamily="34" charset="-120"/>
              </a:rPr>
              <a:t>Powers the interactive menu for navigating features</a:t>
            </a:r>
            <a:r>
              <a:rPr lang="en-US" sz="1000" dirty="0">
                <a:solidFill>
                  <a:srgbClr val="DAD8E9"/>
                </a:solidFill>
                <a:latin typeface="Mukta Light" pitchFamily="34" charset="0"/>
                <a:ea typeface="Mukta Light" pitchFamily="34" charset="-122"/>
                <a:cs typeface="Mukta Light" pitchFamily="34" charset="-120"/>
              </a:rPr>
              <a: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0012" y="854670"/>
            <a:ext cx="10751670" cy="571500"/>
          </a:xfrm>
          <a:prstGeom prst="rect">
            <a:avLst/>
          </a:prstGeom>
          <a:noFill/>
          <a:ln/>
        </p:spPr>
        <p:txBody>
          <a:bodyPr wrap="none" lIns="0" tIns="0" rIns="0" bIns="0" rtlCol="0" anchor="t"/>
          <a:lstStyle/>
          <a:p>
            <a:pPr marL="0" indent="0" algn="l">
              <a:lnSpc>
                <a:spcPct val="104000"/>
              </a:lnSpc>
              <a:buNone/>
            </a:pPr>
            <a:r>
              <a:rPr lang="en-US" sz="3550" dirty="0">
                <a:solidFill>
                  <a:srgbClr val="C6BFEE"/>
                </a:solidFill>
                <a:latin typeface="Prompt Medium" pitchFamily="34" charset="0"/>
                <a:ea typeface="Prompt Medium" pitchFamily="34" charset="-122"/>
                <a:cs typeface="Prompt Medium" pitchFamily="34" charset="-120"/>
              </a:rPr>
              <a:t>Implementation &amp; Demo</a:t>
            </a:r>
            <a:endParaRPr lang="en-US" sz="3550" dirty="0"/>
          </a:p>
        </p:txBody>
      </p:sp>
      <p:sp>
        <p:nvSpPr>
          <p:cNvPr id="3" name="Text 1"/>
          <p:cNvSpPr/>
          <p:nvPr/>
        </p:nvSpPr>
        <p:spPr>
          <a:xfrm>
            <a:off x="720012" y="1837630"/>
            <a:ext cx="11361255" cy="329208"/>
          </a:xfrm>
          <a:prstGeom prst="rect">
            <a:avLst/>
          </a:prstGeom>
          <a:noFill/>
          <a:ln/>
        </p:spPr>
        <p:txBody>
          <a:bodyPr wrap="none" lIns="0" tIns="0" rIns="0" bIns="0" rtlCol="0" anchor="t"/>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A walkthrough of the core features built into the Music Playlist &amp; Listening Stats Manager:</a:t>
            </a:r>
            <a:endParaRPr lang="en-US" sz="1600" dirty="0"/>
          </a:p>
        </p:txBody>
      </p:sp>
      <p:sp>
        <p:nvSpPr>
          <p:cNvPr id="4" name="Text 2"/>
          <p:cNvSpPr/>
          <p:nvPr/>
        </p:nvSpPr>
        <p:spPr>
          <a:xfrm>
            <a:off x="720012" y="2398216"/>
            <a:ext cx="411450" cy="257175"/>
          </a:xfrm>
          <a:prstGeom prst="rect">
            <a:avLst/>
          </a:prstGeom>
          <a:noFill/>
          <a:ln/>
        </p:spPr>
        <p:txBody>
          <a:bodyPr wrap="none" lIns="0" tIns="0" rIns="0" bIns="0" rtlCol="0" anchor="ctr"/>
          <a:lstStyle/>
          <a:p>
            <a:pPr marL="0" indent="0" algn="l">
              <a:lnSpc>
                <a:spcPct val="100000"/>
              </a:lnSpc>
              <a:buNone/>
            </a:pPr>
            <a:r>
              <a:rPr lang="en-US" sz="1600" dirty="0">
                <a:solidFill>
                  <a:srgbClr val="DAD8E9"/>
                </a:solidFill>
                <a:latin typeface="Prompt Light" pitchFamily="34" charset="0"/>
                <a:ea typeface="Prompt Light" pitchFamily="34" charset="-122"/>
                <a:cs typeface="Prompt Light" pitchFamily="34" charset="-120"/>
              </a:rPr>
              <a:t>01</a:t>
            </a:r>
            <a:endParaRPr lang="en-US" sz="1600" dirty="0"/>
          </a:p>
        </p:txBody>
      </p:sp>
      <p:sp>
        <p:nvSpPr>
          <p:cNvPr id="5" name="Shape 3"/>
          <p:cNvSpPr/>
          <p:nvPr/>
        </p:nvSpPr>
        <p:spPr>
          <a:xfrm>
            <a:off x="720012" y="2722463"/>
            <a:ext cx="3446773" cy="25400"/>
          </a:xfrm>
          <a:prstGeom prst="rect">
            <a:avLst/>
          </a:prstGeom>
          <a:solidFill>
            <a:srgbClr val="A95B95"/>
          </a:solidFill>
          <a:ln/>
        </p:spPr>
      </p:sp>
      <p:sp>
        <p:nvSpPr>
          <p:cNvPr id="6" name="Text 4"/>
          <p:cNvSpPr/>
          <p:nvPr/>
        </p:nvSpPr>
        <p:spPr>
          <a:xfrm>
            <a:off x="720012" y="2876054"/>
            <a:ext cx="3446773" cy="285750"/>
          </a:xfrm>
          <a:prstGeom prst="rect">
            <a:avLst/>
          </a:prstGeom>
          <a:noFill/>
          <a:ln/>
        </p:spPr>
        <p:txBody>
          <a:bodyPr wrap="none" lIns="0" tIns="0" rIns="0" bIns="0" rtlCol="0" anchor="t"/>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User Registration &amp; Login</a:t>
            </a:r>
            <a:endParaRPr lang="en-US" sz="1750" dirty="0"/>
          </a:p>
        </p:txBody>
      </p:sp>
      <p:sp>
        <p:nvSpPr>
          <p:cNvPr id="7" name="Text 5"/>
          <p:cNvSpPr/>
          <p:nvPr/>
        </p:nvSpPr>
        <p:spPr>
          <a:xfrm>
            <a:off x="720012" y="3285232"/>
            <a:ext cx="3446773" cy="65841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Secure user registration and login functionality to protect personal data.</a:t>
            </a:r>
            <a:endParaRPr lang="en-US" sz="1600" dirty="0"/>
          </a:p>
        </p:txBody>
      </p:sp>
      <p:sp>
        <p:nvSpPr>
          <p:cNvPr id="8" name="Text 6"/>
          <p:cNvSpPr/>
          <p:nvPr/>
        </p:nvSpPr>
        <p:spPr>
          <a:xfrm>
            <a:off x="4372461" y="2398216"/>
            <a:ext cx="411450" cy="257175"/>
          </a:xfrm>
          <a:prstGeom prst="rect">
            <a:avLst/>
          </a:prstGeom>
          <a:noFill/>
          <a:ln/>
        </p:spPr>
        <p:txBody>
          <a:bodyPr wrap="none" lIns="0" tIns="0" rIns="0" bIns="0" rtlCol="0" anchor="ctr"/>
          <a:lstStyle/>
          <a:p>
            <a:pPr marL="0" indent="0" algn="l">
              <a:lnSpc>
                <a:spcPct val="100000"/>
              </a:lnSpc>
              <a:buNone/>
            </a:pPr>
            <a:r>
              <a:rPr lang="en-US" sz="1600" dirty="0">
                <a:solidFill>
                  <a:srgbClr val="DAD8E9"/>
                </a:solidFill>
                <a:latin typeface="Prompt Light" pitchFamily="34" charset="0"/>
                <a:ea typeface="Prompt Light" pitchFamily="34" charset="-122"/>
                <a:cs typeface="Prompt Light" pitchFamily="34" charset="-120"/>
              </a:rPr>
              <a:t>02</a:t>
            </a:r>
            <a:endParaRPr lang="en-US" sz="1600" dirty="0"/>
          </a:p>
        </p:txBody>
      </p:sp>
      <p:sp>
        <p:nvSpPr>
          <p:cNvPr id="9" name="Shape 7"/>
          <p:cNvSpPr/>
          <p:nvPr/>
        </p:nvSpPr>
        <p:spPr>
          <a:xfrm>
            <a:off x="4372461" y="2722463"/>
            <a:ext cx="3446773" cy="25400"/>
          </a:xfrm>
          <a:prstGeom prst="rect">
            <a:avLst/>
          </a:prstGeom>
          <a:solidFill>
            <a:srgbClr val="A95B95"/>
          </a:solidFill>
          <a:ln/>
        </p:spPr>
      </p:sp>
      <p:sp>
        <p:nvSpPr>
          <p:cNvPr id="10" name="Text 8"/>
          <p:cNvSpPr/>
          <p:nvPr/>
        </p:nvSpPr>
        <p:spPr>
          <a:xfrm>
            <a:off x="4372461" y="2876054"/>
            <a:ext cx="3446773" cy="285750"/>
          </a:xfrm>
          <a:prstGeom prst="rect">
            <a:avLst/>
          </a:prstGeom>
          <a:noFill/>
          <a:ln/>
        </p:spPr>
        <p:txBody>
          <a:bodyPr wrap="none" lIns="0" tIns="0" rIns="0" bIns="0" rtlCol="0" anchor="t"/>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Playlist Management</a:t>
            </a:r>
            <a:endParaRPr lang="en-US" sz="1750" dirty="0"/>
          </a:p>
        </p:txBody>
      </p:sp>
      <p:sp>
        <p:nvSpPr>
          <p:cNvPr id="11" name="Text 9"/>
          <p:cNvSpPr/>
          <p:nvPr/>
        </p:nvSpPr>
        <p:spPr>
          <a:xfrm>
            <a:off x="4372461" y="3285232"/>
            <a:ext cx="3446773" cy="65841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Create, edit, and delete playlists — and add or remove songs with ease.</a:t>
            </a:r>
            <a:endParaRPr lang="en-US" sz="1600" dirty="0"/>
          </a:p>
        </p:txBody>
      </p:sp>
      <p:sp>
        <p:nvSpPr>
          <p:cNvPr id="12" name="Text 10"/>
          <p:cNvSpPr/>
          <p:nvPr/>
        </p:nvSpPr>
        <p:spPr>
          <a:xfrm>
            <a:off x="8024909" y="2398216"/>
            <a:ext cx="411450" cy="257175"/>
          </a:xfrm>
          <a:prstGeom prst="rect">
            <a:avLst/>
          </a:prstGeom>
          <a:noFill/>
          <a:ln/>
        </p:spPr>
        <p:txBody>
          <a:bodyPr wrap="none" lIns="0" tIns="0" rIns="0" bIns="0" rtlCol="0" anchor="ctr"/>
          <a:lstStyle/>
          <a:p>
            <a:pPr marL="0" indent="0" algn="l">
              <a:lnSpc>
                <a:spcPct val="100000"/>
              </a:lnSpc>
              <a:buNone/>
            </a:pPr>
            <a:r>
              <a:rPr lang="en-US" sz="1600" dirty="0">
                <a:solidFill>
                  <a:srgbClr val="DAD8E9"/>
                </a:solidFill>
                <a:latin typeface="Prompt Light" pitchFamily="34" charset="0"/>
                <a:ea typeface="Prompt Light" pitchFamily="34" charset="-122"/>
                <a:cs typeface="Prompt Light" pitchFamily="34" charset="-120"/>
              </a:rPr>
              <a:t>03</a:t>
            </a:r>
            <a:endParaRPr lang="en-US" sz="1600" dirty="0"/>
          </a:p>
        </p:txBody>
      </p:sp>
      <p:sp>
        <p:nvSpPr>
          <p:cNvPr id="13" name="Shape 11"/>
          <p:cNvSpPr/>
          <p:nvPr/>
        </p:nvSpPr>
        <p:spPr>
          <a:xfrm>
            <a:off x="8024909" y="2722463"/>
            <a:ext cx="3446773" cy="25400"/>
          </a:xfrm>
          <a:prstGeom prst="rect">
            <a:avLst/>
          </a:prstGeom>
          <a:solidFill>
            <a:srgbClr val="A95B95"/>
          </a:solidFill>
          <a:ln/>
        </p:spPr>
      </p:sp>
      <p:sp>
        <p:nvSpPr>
          <p:cNvPr id="14" name="Text 12"/>
          <p:cNvSpPr/>
          <p:nvPr/>
        </p:nvSpPr>
        <p:spPr>
          <a:xfrm>
            <a:off x="8024909" y="2876054"/>
            <a:ext cx="3446773" cy="285750"/>
          </a:xfrm>
          <a:prstGeom prst="rect">
            <a:avLst/>
          </a:prstGeom>
          <a:noFill/>
          <a:ln/>
        </p:spPr>
        <p:txBody>
          <a:bodyPr wrap="none" lIns="0" tIns="0" rIns="0" bIns="0" rtlCol="0" anchor="t"/>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Listening Statistics Dashboard</a:t>
            </a:r>
            <a:endParaRPr lang="en-US" sz="1750" dirty="0"/>
          </a:p>
        </p:txBody>
      </p:sp>
      <p:sp>
        <p:nvSpPr>
          <p:cNvPr id="15" name="Text 13"/>
          <p:cNvSpPr/>
          <p:nvPr/>
        </p:nvSpPr>
        <p:spPr>
          <a:xfrm>
            <a:off x="8024909" y="3285232"/>
            <a:ext cx="3446773" cy="65841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Real-time dashboard tracking play counts, top songs, and listening trends.</a:t>
            </a:r>
            <a:endParaRPr lang="en-US" sz="1600" dirty="0"/>
          </a:p>
        </p:txBody>
      </p:sp>
      <p:sp>
        <p:nvSpPr>
          <p:cNvPr id="16" name="Text 14"/>
          <p:cNvSpPr/>
          <p:nvPr/>
        </p:nvSpPr>
        <p:spPr>
          <a:xfrm>
            <a:off x="720012" y="4303613"/>
            <a:ext cx="411450" cy="257175"/>
          </a:xfrm>
          <a:prstGeom prst="rect">
            <a:avLst/>
          </a:prstGeom>
          <a:noFill/>
          <a:ln/>
        </p:spPr>
        <p:txBody>
          <a:bodyPr wrap="none" lIns="0" tIns="0" rIns="0" bIns="0" rtlCol="0" anchor="ctr"/>
          <a:lstStyle/>
          <a:p>
            <a:pPr marL="0" indent="0" algn="l">
              <a:lnSpc>
                <a:spcPct val="100000"/>
              </a:lnSpc>
              <a:buNone/>
            </a:pPr>
            <a:r>
              <a:rPr lang="en-US" sz="1600" dirty="0">
                <a:solidFill>
                  <a:srgbClr val="DAD8E9"/>
                </a:solidFill>
                <a:latin typeface="Prompt Light" pitchFamily="34" charset="0"/>
                <a:ea typeface="Prompt Light" pitchFamily="34" charset="-122"/>
                <a:cs typeface="Prompt Light" pitchFamily="34" charset="-120"/>
              </a:rPr>
              <a:t>04</a:t>
            </a:r>
            <a:endParaRPr lang="en-US" sz="1600" dirty="0"/>
          </a:p>
        </p:txBody>
      </p:sp>
      <p:sp>
        <p:nvSpPr>
          <p:cNvPr id="17" name="Shape 15"/>
          <p:cNvSpPr/>
          <p:nvPr/>
        </p:nvSpPr>
        <p:spPr>
          <a:xfrm>
            <a:off x="720012" y="4627860"/>
            <a:ext cx="5272948" cy="25400"/>
          </a:xfrm>
          <a:prstGeom prst="rect">
            <a:avLst/>
          </a:prstGeom>
          <a:solidFill>
            <a:srgbClr val="A95B95"/>
          </a:solidFill>
          <a:ln/>
        </p:spPr>
      </p:sp>
      <p:sp>
        <p:nvSpPr>
          <p:cNvPr id="18" name="Text 16"/>
          <p:cNvSpPr/>
          <p:nvPr/>
        </p:nvSpPr>
        <p:spPr>
          <a:xfrm>
            <a:off x="720012" y="4781451"/>
            <a:ext cx="5272948" cy="285750"/>
          </a:xfrm>
          <a:prstGeom prst="rect">
            <a:avLst/>
          </a:prstGeom>
          <a:noFill/>
          <a:ln/>
        </p:spPr>
        <p:txBody>
          <a:bodyPr wrap="none" lIns="0" tIns="0" rIns="0" bIns="0" rtlCol="0" anchor="t"/>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Search &amp; Filter</a:t>
            </a:r>
            <a:endParaRPr lang="en-US" sz="1750" dirty="0"/>
          </a:p>
        </p:txBody>
      </p:sp>
      <p:sp>
        <p:nvSpPr>
          <p:cNvPr id="19" name="Text 17"/>
          <p:cNvSpPr/>
          <p:nvPr/>
        </p:nvSpPr>
        <p:spPr>
          <a:xfrm>
            <a:off x="720012" y="5190629"/>
            <a:ext cx="5272948" cy="65841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Search and filter music by genre, artist, or title for quick discovery.</a:t>
            </a:r>
            <a:endParaRPr lang="en-US" sz="1600" dirty="0"/>
          </a:p>
        </p:txBody>
      </p:sp>
      <p:sp>
        <p:nvSpPr>
          <p:cNvPr id="20" name="Text 18"/>
          <p:cNvSpPr/>
          <p:nvPr/>
        </p:nvSpPr>
        <p:spPr>
          <a:xfrm>
            <a:off x="6198636" y="4303613"/>
            <a:ext cx="411450" cy="257175"/>
          </a:xfrm>
          <a:prstGeom prst="rect">
            <a:avLst/>
          </a:prstGeom>
          <a:noFill/>
          <a:ln/>
        </p:spPr>
        <p:txBody>
          <a:bodyPr wrap="none" lIns="0" tIns="0" rIns="0" bIns="0" rtlCol="0" anchor="ctr"/>
          <a:lstStyle/>
          <a:p>
            <a:pPr marL="0" indent="0" algn="l">
              <a:lnSpc>
                <a:spcPct val="100000"/>
              </a:lnSpc>
              <a:buNone/>
            </a:pPr>
            <a:r>
              <a:rPr lang="en-US" sz="1600" dirty="0">
                <a:solidFill>
                  <a:srgbClr val="DAD8E9"/>
                </a:solidFill>
                <a:latin typeface="Prompt Light" pitchFamily="34" charset="0"/>
                <a:ea typeface="Prompt Light" pitchFamily="34" charset="-122"/>
                <a:cs typeface="Prompt Light" pitchFamily="34" charset="-120"/>
              </a:rPr>
              <a:t>05</a:t>
            </a:r>
            <a:endParaRPr lang="en-US" sz="1600" dirty="0"/>
          </a:p>
        </p:txBody>
      </p:sp>
      <p:sp>
        <p:nvSpPr>
          <p:cNvPr id="21" name="Shape 19"/>
          <p:cNvSpPr/>
          <p:nvPr/>
        </p:nvSpPr>
        <p:spPr>
          <a:xfrm>
            <a:off x="6198636" y="4627860"/>
            <a:ext cx="5273047" cy="25400"/>
          </a:xfrm>
          <a:prstGeom prst="rect">
            <a:avLst/>
          </a:prstGeom>
          <a:solidFill>
            <a:srgbClr val="A95B95"/>
          </a:solidFill>
          <a:ln/>
        </p:spPr>
      </p:sp>
      <p:sp>
        <p:nvSpPr>
          <p:cNvPr id="22" name="Text 20"/>
          <p:cNvSpPr/>
          <p:nvPr/>
        </p:nvSpPr>
        <p:spPr>
          <a:xfrm>
            <a:off x="6198636" y="4781451"/>
            <a:ext cx="5273047" cy="285750"/>
          </a:xfrm>
          <a:prstGeom prst="rect">
            <a:avLst/>
          </a:prstGeom>
          <a:noFill/>
          <a:ln/>
        </p:spPr>
        <p:txBody>
          <a:bodyPr wrap="none" lIns="0" tIns="0" rIns="0" bIns="0" rtlCol="0" anchor="t"/>
          <a:lstStyle/>
          <a:p>
            <a:pPr marL="0" indent="0" algn="l">
              <a:lnSpc>
                <a:spcPct val="104000"/>
              </a:lnSpc>
              <a:buNone/>
            </a:pPr>
            <a:r>
              <a:rPr lang="en-US" sz="1750" dirty="0">
                <a:solidFill>
                  <a:srgbClr val="DAD8E9"/>
                </a:solidFill>
                <a:latin typeface="Prompt Medium" pitchFamily="34" charset="0"/>
                <a:ea typeface="Prompt Medium" pitchFamily="34" charset="-122"/>
                <a:cs typeface="Prompt Medium" pitchFamily="34" charset="-120"/>
              </a:rPr>
              <a:t>CRUD Operations</a:t>
            </a:r>
            <a:endParaRPr lang="en-US" sz="1750" dirty="0"/>
          </a:p>
        </p:txBody>
      </p:sp>
      <p:sp>
        <p:nvSpPr>
          <p:cNvPr id="23" name="Text 21"/>
          <p:cNvSpPr/>
          <p:nvPr/>
        </p:nvSpPr>
        <p:spPr>
          <a:xfrm>
            <a:off x="6198636" y="5190629"/>
            <a:ext cx="5273047" cy="658416"/>
          </a:xfrm>
          <a:prstGeom prst="rect">
            <a:avLst/>
          </a:prstGeom>
          <a:noFill/>
          <a:ln/>
        </p:spPr>
        <p:txBody>
          <a:bodyPr wrap="square" lIns="0" tIns="0" rIns="0" bIns="0" rtlCol="0" anchor="t">
            <a:normAutofit/>
          </a:bodyPr>
          <a:lstStyle/>
          <a:p>
            <a:pPr marL="0" indent="0" algn="l">
              <a:lnSpc>
                <a:spcPct val="133000"/>
              </a:lnSpc>
              <a:buNone/>
            </a:pPr>
            <a:r>
              <a:rPr lang="en-US" sz="1600" dirty="0">
                <a:solidFill>
                  <a:srgbClr val="DAD8E9"/>
                </a:solidFill>
                <a:latin typeface="Mukta Light" pitchFamily="34" charset="0"/>
                <a:ea typeface="Mukta Light" pitchFamily="34" charset="-122"/>
                <a:cs typeface="Mukta Light" pitchFamily="34" charset="-120"/>
              </a:rPr>
              <a:t>Full Create, Read, Update, and Delete operations demonstrated on playlists and user data.</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A87C2E-FBD7-E6B5-49E4-1115CE4DD4FB}"/>
              </a:ext>
            </a:extLst>
          </p:cNvPr>
          <p:cNvSpPr txBox="1"/>
          <p:nvPr/>
        </p:nvSpPr>
        <p:spPr>
          <a:xfrm>
            <a:off x="3920065" y="324525"/>
            <a:ext cx="2971198" cy="2185214"/>
          </a:xfrm>
          <a:prstGeom prst="rect">
            <a:avLst/>
          </a:prstGeom>
          <a:noFill/>
        </p:spPr>
        <p:txBody>
          <a:bodyPr wrap="none" rtlCol="0">
            <a:spAutoFit/>
          </a:bodyPr>
          <a:lstStyle/>
          <a:p>
            <a:r>
              <a:rPr lang="en-US" sz="4000" dirty="0">
                <a:solidFill>
                  <a:srgbClr val="C8A4E6"/>
                </a:solidFill>
              </a:rPr>
              <a:t>CONCLUSION</a:t>
            </a:r>
          </a:p>
          <a:p>
            <a:endParaRPr lang="en-US" sz="3200" dirty="0">
              <a:solidFill>
                <a:schemeClr val="bg2"/>
              </a:solidFill>
            </a:endParaRPr>
          </a:p>
          <a:p>
            <a:endParaRPr lang="en-US" sz="3200" dirty="0">
              <a:solidFill>
                <a:schemeClr val="bg2"/>
              </a:solidFill>
            </a:endParaRPr>
          </a:p>
          <a:p>
            <a:endParaRPr lang="en-IN" sz="3200" dirty="0">
              <a:solidFill>
                <a:schemeClr val="bg2"/>
              </a:solidFill>
            </a:endParaRPr>
          </a:p>
        </p:txBody>
      </p:sp>
      <p:sp>
        <p:nvSpPr>
          <p:cNvPr id="9" name="TextBox 8">
            <a:extLst>
              <a:ext uri="{FF2B5EF4-FFF2-40B4-BE49-F238E27FC236}">
                <a16:creationId xmlns:a16="http://schemas.microsoft.com/office/drawing/2014/main" id="{0DBCAD09-9208-6E11-3AF6-27714BBED27B}"/>
              </a:ext>
            </a:extLst>
          </p:cNvPr>
          <p:cNvSpPr txBox="1"/>
          <p:nvPr/>
        </p:nvSpPr>
        <p:spPr>
          <a:xfrm>
            <a:off x="5101063" y="1417132"/>
            <a:ext cx="7277204" cy="5324535"/>
          </a:xfrm>
          <a:prstGeom prst="rect">
            <a:avLst/>
          </a:prstGeom>
          <a:noFill/>
        </p:spPr>
        <p:txBody>
          <a:bodyPr wrap="square" rtlCol="0">
            <a:spAutoFit/>
          </a:bodyPr>
          <a:lstStyle/>
          <a:p>
            <a:r>
              <a:rPr lang="en-US" sz="2000" dirty="0">
                <a:solidFill>
                  <a:schemeClr val="bg1"/>
                </a:solidFill>
                <a:latin typeface="Bahnschrift Light" panose="020B0502040204020203" pitchFamily="34" charset="0"/>
              </a:rPr>
              <a:t>To conclude, our Music Playlist and Listening Stats Manager provides a simple and </a:t>
            </a:r>
            <a:r>
              <a:rPr lang="en-US" sz="2000" dirty="0" err="1">
                <a:solidFill>
                  <a:schemeClr val="bg1"/>
                </a:solidFill>
                <a:latin typeface="Bahnschrift Light" panose="020B0502040204020203" pitchFamily="34" charset="0"/>
              </a:rPr>
              <a:t>organised</a:t>
            </a:r>
            <a:r>
              <a:rPr lang="en-US" sz="2000" dirty="0">
                <a:solidFill>
                  <a:schemeClr val="bg1"/>
                </a:solidFill>
                <a:latin typeface="Bahnschrift Light" panose="020B0502040204020203" pitchFamily="34" charset="0"/>
              </a:rPr>
              <a:t> way to manage songs and playlists.</a:t>
            </a:r>
          </a:p>
          <a:p>
            <a:endParaRPr lang="en-US" sz="2000" dirty="0">
              <a:solidFill>
                <a:schemeClr val="bg1"/>
              </a:solidFill>
              <a:latin typeface="Bahnschrift Light" panose="020B0502040204020203" pitchFamily="34" charset="0"/>
            </a:endParaRPr>
          </a:p>
          <a:p>
            <a:r>
              <a:rPr lang="en-US" sz="2000" dirty="0">
                <a:solidFill>
                  <a:schemeClr val="bg1"/>
                </a:solidFill>
                <a:latin typeface="Bahnschrift Light" panose="020B0502040204020203" pitchFamily="34" charset="0"/>
              </a:rPr>
              <a:t>It helps users keep track of their listening activity and understand their music preferences. Through this project, </a:t>
            </a:r>
          </a:p>
          <a:p>
            <a:r>
              <a:rPr lang="en-US" sz="2000" dirty="0">
                <a:solidFill>
                  <a:schemeClr val="bg1"/>
                </a:solidFill>
                <a:latin typeface="Bahnschrift Light" panose="020B0502040204020203" pitchFamily="34" charset="0"/>
              </a:rPr>
              <a:t>we also applied important Java concepts such as arrays, loops, conditions, switch statements, and methods to a real-world application.</a:t>
            </a:r>
          </a:p>
          <a:p>
            <a:r>
              <a:rPr lang="en-US" sz="2000" dirty="0">
                <a:solidFill>
                  <a:schemeClr val="bg1"/>
                </a:solidFill>
                <a:latin typeface="Bahnschrift Light" panose="020B0502040204020203" pitchFamily="34" charset="0"/>
              </a:rPr>
              <a:t>In the future, we can improve the project by adding features like song search, sorting, multiple playlists, </a:t>
            </a:r>
            <a:r>
              <a:rPr lang="en-US" sz="2000" dirty="0" err="1">
                <a:solidFill>
                  <a:schemeClr val="bg1"/>
                </a:solidFill>
                <a:latin typeface="Bahnschrift Light" panose="020B0502040204020203" pitchFamily="34" charset="0"/>
              </a:rPr>
              <a:t>favourites</a:t>
            </a:r>
            <a:r>
              <a:rPr lang="en-US" sz="2000" dirty="0">
                <a:solidFill>
                  <a:schemeClr val="bg1"/>
                </a:solidFill>
                <a:latin typeface="Bahnschrift Light" panose="020B0502040204020203" pitchFamily="34" charset="0"/>
              </a:rPr>
              <a:t> and a graphical user interface. </a:t>
            </a:r>
          </a:p>
          <a:p>
            <a:r>
              <a:rPr lang="en-US" sz="2000" dirty="0">
                <a:solidFill>
                  <a:schemeClr val="bg1"/>
                </a:solidFill>
                <a:latin typeface="Bahnschrift Light" panose="020B0502040204020203" pitchFamily="34" charset="0"/>
              </a:rPr>
              <a:t> </a:t>
            </a:r>
          </a:p>
          <a:p>
            <a:r>
              <a:rPr lang="en-US" sz="2000" dirty="0">
                <a:solidFill>
                  <a:schemeClr val="bg1"/>
                </a:solidFill>
              </a:rPr>
              <a:t> </a:t>
            </a:r>
            <a:r>
              <a:rPr lang="en-US" sz="2000" b="1" dirty="0">
                <a:solidFill>
                  <a:schemeClr val="bg1"/>
                </a:solidFill>
                <a:latin typeface="Microsoft YaHei UI Light" panose="020B0502040204020203" pitchFamily="34" charset="-122"/>
                <a:ea typeface="Microsoft YaHei UI Light" panose="020B0502040204020203" pitchFamily="34" charset="-122"/>
              </a:rPr>
              <a:t>Overall, this project helped us improve our Java programming skills and understand how programming can be used to create useful applications</a:t>
            </a:r>
          </a:p>
          <a:p>
            <a:r>
              <a:rPr lang="en-US" sz="2000" b="1" dirty="0">
                <a:solidFill>
                  <a:schemeClr val="bg1"/>
                </a:solidFill>
                <a:latin typeface="Microsoft YaHei UI Light" panose="020B0502040204020203" pitchFamily="34" charset="-122"/>
                <a:ea typeface="Microsoft YaHei UI Light" panose="020B0502040204020203" pitchFamily="34" charset="-122"/>
              </a:rPr>
              <a:t> </a:t>
            </a:r>
            <a:endParaRPr lang="en-IN" sz="2000" b="1" dirty="0">
              <a:solidFill>
                <a:schemeClr val="bg1"/>
              </a:solidFill>
              <a:latin typeface="Microsoft YaHei UI Light" panose="020B0502040204020203" pitchFamily="34" charset="-122"/>
              <a:ea typeface="Microsoft YaHei UI Light" panose="020B0502040204020203" pitchFamily="34" charset="-122"/>
            </a:endParaRPr>
          </a:p>
        </p:txBody>
      </p:sp>
      <p:pic>
        <p:nvPicPr>
          <p:cNvPr id="6" name="Picture 5">
            <a:extLst>
              <a:ext uri="{FF2B5EF4-FFF2-40B4-BE49-F238E27FC236}">
                <a16:creationId xmlns:a16="http://schemas.microsoft.com/office/drawing/2014/main" id="{40488888-B2E2-27BE-6AE4-F23660F1385D}"/>
              </a:ext>
            </a:extLst>
          </p:cNvPr>
          <p:cNvPicPr>
            <a:picLocks noChangeAspect="1"/>
          </p:cNvPicPr>
          <p:nvPr/>
        </p:nvPicPr>
        <p:blipFill>
          <a:blip r:embed="rId2"/>
          <a:stretch>
            <a:fillRect/>
          </a:stretch>
        </p:blipFill>
        <p:spPr>
          <a:xfrm>
            <a:off x="237067" y="1549400"/>
            <a:ext cx="4741334" cy="4707467"/>
          </a:xfrm>
          <a:prstGeom prst="rect">
            <a:avLst/>
          </a:prstGeom>
        </p:spPr>
      </p:pic>
    </p:spTree>
    <p:extLst>
      <p:ext uri="{BB962C8B-B14F-4D97-AF65-F5344CB8AC3E}">
        <p14:creationId xmlns:p14="http://schemas.microsoft.com/office/powerpoint/2010/main" val="520441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0012" y="580827"/>
            <a:ext cx="10751670" cy="473273"/>
          </a:xfrm>
          <a:prstGeom prst="rect">
            <a:avLst/>
          </a:prstGeom>
          <a:noFill/>
          <a:ln/>
        </p:spPr>
        <p:txBody>
          <a:bodyPr wrap="none" lIns="0" tIns="0" rIns="0" bIns="0" rtlCol="0" anchor="t"/>
          <a:lstStyle/>
          <a:p>
            <a:pPr marL="0" indent="0" algn="l">
              <a:lnSpc>
                <a:spcPct val="104000"/>
              </a:lnSpc>
              <a:buNone/>
            </a:pPr>
            <a:r>
              <a:rPr lang="en-US" sz="2950" dirty="0">
                <a:solidFill>
                  <a:srgbClr val="C6BFEE"/>
                </a:solidFill>
                <a:latin typeface="Prompt Medium" pitchFamily="34" charset="0"/>
                <a:ea typeface="Prompt Medium" pitchFamily="34" charset="-122"/>
                <a:cs typeface="Prompt Medium" pitchFamily="34" charset="-120"/>
              </a:rPr>
              <a:t>Future Scope</a:t>
            </a:r>
            <a:endParaRPr lang="en-US" sz="2950" dirty="0"/>
          </a:p>
        </p:txBody>
      </p:sp>
      <p:sp>
        <p:nvSpPr>
          <p:cNvPr id="3" name="Shape 1"/>
          <p:cNvSpPr/>
          <p:nvPr/>
        </p:nvSpPr>
        <p:spPr>
          <a:xfrm>
            <a:off x="6086323" y="1336278"/>
            <a:ext cx="19050" cy="4940796"/>
          </a:xfrm>
          <a:prstGeom prst="roundRect">
            <a:avLst>
              <a:gd name="adj" fmla="val 49999"/>
            </a:avLst>
          </a:prstGeom>
          <a:solidFill>
            <a:srgbClr val="6D4562"/>
          </a:solidFill>
          <a:ln/>
        </p:spPr>
      </p:sp>
      <p:sp>
        <p:nvSpPr>
          <p:cNvPr id="4" name="Shape 2"/>
          <p:cNvSpPr/>
          <p:nvPr/>
        </p:nvSpPr>
        <p:spPr>
          <a:xfrm>
            <a:off x="5412198" y="1518345"/>
            <a:ext cx="511063" cy="19050"/>
          </a:xfrm>
          <a:prstGeom prst="roundRect">
            <a:avLst>
              <a:gd name="adj" fmla="val 49999"/>
            </a:avLst>
          </a:prstGeom>
          <a:solidFill>
            <a:srgbClr val="6D4562"/>
          </a:solidFill>
          <a:ln/>
        </p:spPr>
      </p:sp>
      <p:sp>
        <p:nvSpPr>
          <p:cNvPr id="5" name="Shape 3"/>
          <p:cNvSpPr/>
          <p:nvPr/>
        </p:nvSpPr>
        <p:spPr>
          <a:xfrm>
            <a:off x="5904211" y="1336278"/>
            <a:ext cx="383272" cy="383282"/>
          </a:xfrm>
          <a:prstGeom prst="roundRect">
            <a:avLst>
              <a:gd name="adj" fmla="val 18670"/>
            </a:avLst>
          </a:prstGeom>
          <a:solidFill>
            <a:srgbClr val="542C49"/>
          </a:solidFill>
          <a:ln w="6350">
            <a:solidFill>
              <a:srgbClr val="6D4562"/>
            </a:solidFill>
            <a:prstDash val="solid"/>
          </a:ln>
        </p:spPr>
      </p:sp>
      <p:sp>
        <p:nvSpPr>
          <p:cNvPr id="6" name="Text 4"/>
          <p:cNvSpPr/>
          <p:nvPr/>
        </p:nvSpPr>
        <p:spPr>
          <a:xfrm>
            <a:off x="5982245" y="1385937"/>
            <a:ext cx="227106" cy="283865"/>
          </a:xfrm>
          <a:prstGeom prst="rect">
            <a:avLst/>
          </a:prstGeom>
          <a:noFill/>
          <a:ln/>
        </p:spPr>
        <p:txBody>
          <a:bodyPr wrap="none" lIns="0" tIns="0" rIns="0" bIns="0" rtlCol="0" anchor="ctr"/>
          <a:lstStyle/>
          <a:p>
            <a:pPr marL="0" indent="0" algn="ctr">
              <a:lnSpc>
                <a:spcPct val="100000"/>
              </a:lnSpc>
              <a:buNone/>
            </a:pPr>
            <a:r>
              <a:rPr lang="en-US" sz="1750" dirty="0">
                <a:solidFill>
                  <a:srgbClr val="DAD8E9"/>
                </a:solidFill>
                <a:latin typeface="Prompt Medium" pitchFamily="34" charset="0"/>
                <a:ea typeface="Prompt Medium" pitchFamily="34" charset="-122"/>
                <a:cs typeface="Prompt Medium" pitchFamily="34" charset="-120"/>
              </a:rPr>
              <a:t>1</a:t>
            </a:r>
            <a:endParaRPr lang="en-US" sz="1750" dirty="0"/>
          </a:p>
        </p:txBody>
      </p:sp>
      <p:sp>
        <p:nvSpPr>
          <p:cNvPr id="7" name="Text 5"/>
          <p:cNvSpPr/>
          <p:nvPr/>
        </p:nvSpPr>
        <p:spPr>
          <a:xfrm>
            <a:off x="720012" y="1394817"/>
            <a:ext cx="4523964" cy="236637"/>
          </a:xfrm>
          <a:prstGeom prst="rect">
            <a:avLst/>
          </a:prstGeom>
          <a:noFill/>
          <a:ln/>
        </p:spPr>
        <p:txBody>
          <a:bodyPr wrap="none" lIns="0" tIns="0" rIns="0" bIns="0" rtlCol="0" anchor="t"/>
          <a:lstStyle/>
          <a:p>
            <a:pPr marL="0" indent="0" algn="r">
              <a:lnSpc>
                <a:spcPct val="104000"/>
              </a:lnSpc>
              <a:buNone/>
            </a:pPr>
            <a:r>
              <a:rPr lang="en-US" sz="1450" dirty="0">
                <a:solidFill>
                  <a:srgbClr val="DAD8E9"/>
                </a:solidFill>
                <a:latin typeface="Prompt Medium" pitchFamily="34" charset="0"/>
                <a:ea typeface="Prompt Medium" pitchFamily="34" charset="-122"/>
                <a:cs typeface="Prompt Medium" pitchFamily="34" charset="-120"/>
              </a:rPr>
              <a:t>AI Recommendations</a:t>
            </a:r>
            <a:endParaRPr lang="en-US" sz="1450" dirty="0"/>
          </a:p>
        </p:txBody>
      </p:sp>
      <p:sp>
        <p:nvSpPr>
          <p:cNvPr id="8" name="Text 6"/>
          <p:cNvSpPr/>
          <p:nvPr/>
        </p:nvSpPr>
        <p:spPr>
          <a:xfrm>
            <a:off x="720012" y="1716088"/>
            <a:ext cx="4523964" cy="249138"/>
          </a:xfrm>
          <a:prstGeom prst="rect">
            <a:avLst/>
          </a:prstGeom>
          <a:noFill/>
          <a:ln/>
        </p:spPr>
        <p:txBody>
          <a:bodyPr wrap="none" lIns="0" tIns="0" rIns="0" bIns="0" rtlCol="0" anchor="t"/>
          <a:lstStyle/>
          <a:p>
            <a:pPr marL="0" indent="0" algn="r">
              <a:lnSpc>
                <a:spcPct val="122000"/>
              </a:lnSpc>
              <a:buNone/>
            </a:pPr>
            <a:r>
              <a:rPr lang="en-US" sz="1400" dirty="0">
                <a:solidFill>
                  <a:srgbClr val="DAD8E9"/>
                </a:solidFill>
                <a:latin typeface="Mukta Light" pitchFamily="34" charset="0"/>
                <a:ea typeface="Mukta Light" pitchFamily="34" charset="-122"/>
                <a:cs typeface="Mukta Light" pitchFamily="34" charset="-120"/>
              </a:rPr>
              <a:t>Machine learning to suggest songs based on listening patterns</a:t>
            </a:r>
            <a:r>
              <a:rPr lang="en-US" sz="1300" dirty="0">
                <a:solidFill>
                  <a:srgbClr val="DAD8E9"/>
                </a:solidFill>
                <a:latin typeface="Mukta Light" pitchFamily="34" charset="0"/>
                <a:ea typeface="Mukta Light" pitchFamily="34" charset="-122"/>
                <a:cs typeface="Mukta Light" pitchFamily="34" charset="-120"/>
              </a:rPr>
              <a:t>.</a:t>
            </a:r>
            <a:endParaRPr lang="en-US" sz="1300" dirty="0"/>
          </a:p>
        </p:txBody>
      </p:sp>
      <p:sp>
        <p:nvSpPr>
          <p:cNvPr id="9" name="Shape 7"/>
          <p:cNvSpPr/>
          <p:nvPr/>
        </p:nvSpPr>
        <p:spPr>
          <a:xfrm>
            <a:off x="6268434" y="2481957"/>
            <a:ext cx="511063" cy="19050"/>
          </a:xfrm>
          <a:prstGeom prst="roundRect">
            <a:avLst>
              <a:gd name="adj" fmla="val 49999"/>
            </a:avLst>
          </a:prstGeom>
          <a:solidFill>
            <a:srgbClr val="6D4562"/>
          </a:solidFill>
          <a:ln/>
        </p:spPr>
      </p:sp>
      <p:sp>
        <p:nvSpPr>
          <p:cNvPr id="10" name="Shape 8"/>
          <p:cNvSpPr/>
          <p:nvPr/>
        </p:nvSpPr>
        <p:spPr>
          <a:xfrm>
            <a:off x="5904211" y="2299891"/>
            <a:ext cx="383272" cy="383282"/>
          </a:xfrm>
          <a:prstGeom prst="roundRect">
            <a:avLst>
              <a:gd name="adj" fmla="val 18670"/>
            </a:avLst>
          </a:prstGeom>
          <a:solidFill>
            <a:srgbClr val="542C49"/>
          </a:solidFill>
          <a:ln w="6350">
            <a:solidFill>
              <a:srgbClr val="6D4562"/>
            </a:solidFill>
            <a:prstDash val="solid"/>
          </a:ln>
        </p:spPr>
      </p:sp>
      <p:sp>
        <p:nvSpPr>
          <p:cNvPr id="11" name="Text 9"/>
          <p:cNvSpPr/>
          <p:nvPr/>
        </p:nvSpPr>
        <p:spPr>
          <a:xfrm>
            <a:off x="5982245" y="2349550"/>
            <a:ext cx="227106" cy="283865"/>
          </a:xfrm>
          <a:prstGeom prst="rect">
            <a:avLst/>
          </a:prstGeom>
          <a:noFill/>
          <a:ln/>
        </p:spPr>
        <p:txBody>
          <a:bodyPr wrap="none" lIns="0" tIns="0" rIns="0" bIns="0" rtlCol="0" anchor="ctr"/>
          <a:lstStyle/>
          <a:p>
            <a:pPr marL="0" indent="0" algn="ctr">
              <a:lnSpc>
                <a:spcPct val="100000"/>
              </a:lnSpc>
              <a:buNone/>
            </a:pPr>
            <a:r>
              <a:rPr lang="en-US" sz="1750" dirty="0">
                <a:solidFill>
                  <a:srgbClr val="DAD8E9"/>
                </a:solidFill>
                <a:latin typeface="Prompt Medium" pitchFamily="34" charset="0"/>
                <a:ea typeface="Prompt Medium" pitchFamily="34" charset="-122"/>
                <a:cs typeface="Prompt Medium" pitchFamily="34" charset="-120"/>
              </a:rPr>
              <a:t>2</a:t>
            </a:r>
            <a:endParaRPr lang="en-US" sz="1750" dirty="0"/>
          </a:p>
        </p:txBody>
      </p:sp>
      <p:sp>
        <p:nvSpPr>
          <p:cNvPr id="12" name="Text 10"/>
          <p:cNvSpPr/>
          <p:nvPr/>
        </p:nvSpPr>
        <p:spPr>
          <a:xfrm>
            <a:off x="6947718" y="2358430"/>
            <a:ext cx="4523964" cy="236637"/>
          </a:xfrm>
          <a:prstGeom prst="rect">
            <a:avLst/>
          </a:prstGeom>
          <a:noFill/>
          <a:ln/>
        </p:spPr>
        <p:txBody>
          <a:bodyPr wrap="none" lIns="0" tIns="0" rIns="0" bIns="0" rtlCol="0" anchor="t"/>
          <a:lstStyle/>
          <a:p>
            <a:pPr marL="0" indent="0" algn="l">
              <a:lnSpc>
                <a:spcPct val="104000"/>
              </a:lnSpc>
              <a:buNone/>
            </a:pPr>
            <a:r>
              <a:rPr lang="en-US" sz="1450" dirty="0">
                <a:solidFill>
                  <a:srgbClr val="DAD8E9"/>
                </a:solidFill>
                <a:latin typeface="Prompt Medium" pitchFamily="34" charset="0"/>
                <a:ea typeface="Prompt Medium" pitchFamily="34" charset="-122"/>
                <a:cs typeface="Prompt Medium" pitchFamily="34" charset="-120"/>
              </a:rPr>
              <a:t>Social Features</a:t>
            </a:r>
            <a:endParaRPr lang="en-US" sz="1450" dirty="0"/>
          </a:p>
        </p:txBody>
      </p:sp>
      <p:sp>
        <p:nvSpPr>
          <p:cNvPr id="13" name="Text 11"/>
          <p:cNvSpPr/>
          <p:nvPr/>
        </p:nvSpPr>
        <p:spPr>
          <a:xfrm>
            <a:off x="6947718" y="2679700"/>
            <a:ext cx="4523964" cy="249138"/>
          </a:xfrm>
          <a:prstGeom prst="rect">
            <a:avLst/>
          </a:prstGeom>
          <a:noFill/>
          <a:ln/>
        </p:spPr>
        <p:txBody>
          <a:bodyPr wrap="none" lIns="0" tIns="0" rIns="0" bIns="0" rtlCol="0" anchor="t"/>
          <a:lstStyle/>
          <a:p>
            <a:pPr marL="0" indent="0" algn="l">
              <a:lnSpc>
                <a:spcPct val="122000"/>
              </a:lnSpc>
              <a:buNone/>
            </a:pPr>
            <a:r>
              <a:rPr lang="en-US" sz="1400" dirty="0">
                <a:solidFill>
                  <a:srgbClr val="DAD8E9"/>
                </a:solidFill>
                <a:latin typeface="Mukta Light" pitchFamily="34" charset="0"/>
                <a:ea typeface="Mukta Light" pitchFamily="34" charset="-122"/>
                <a:cs typeface="Mukta Light" pitchFamily="34" charset="-120"/>
              </a:rPr>
              <a:t>Share playlists, collaborate with friends, discover trending music.</a:t>
            </a:r>
            <a:endParaRPr lang="en-US" sz="1400" dirty="0"/>
          </a:p>
        </p:txBody>
      </p:sp>
      <p:sp>
        <p:nvSpPr>
          <p:cNvPr id="14" name="Shape 12"/>
          <p:cNvSpPr/>
          <p:nvPr/>
        </p:nvSpPr>
        <p:spPr>
          <a:xfrm>
            <a:off x="5412198" y="3333750"/>
            <a:ext cx="511063" cy="19050"/>
          </a:xfrm>
          <a:prstGeom prst="roundRect">
            <a:avLst>
              <a:gd name="adj" fmla="val 49999"/>
            </a:avLst>
          </a:prstGeom>
          <a:solidFill>
            <a:srgbClr val="6D4562"/>
          </a:solidFill>
          <a:ln/>
        </p:spPr>
      </p:sp>
      <p:sp>
        <p:nvSpPr>
          <p:cNvPr id="15" name="Shape 13"/>
          <p:cNvSpPr/>
          <p:nvPr/>
        </p:nvSpPr>
        <p:spPr>
          <a:xfrm>
            <a:off x="5904211" y="3168618"/>
            <a:ext cx="383272" cy="383282"/>
          </a:xfrm>
          <a:prstGeom prst="roundRect">
            <a:avLst>
              <a:gd name="adj" fmla="val 18670"/>
            </a:avLst>
          </a:prstGeom>
          <a:solidFill>
            <a:srgbClr val="542C49"/>
          </a:solidFill>
          <a:ln w="6350">
            <a:solidFill>
              <a:srgbClr val="6D4562"/>
            </a:solidFill>
            <a:prstDash val="solid"/>
          </a:ln>
        </p:spPr>
      </p:sp>
      <p:sp>
        <p:nvSpPr>
          <p:cNvPr id="16" name="Text 14"/>
          <p:cNvSpPr/>
          <p:nvPr/>
        </p:nvSpPr>
        <p:spPr>
          <a:xfrm>
            <a:off x="5982245" y="3201343"/>
            <a:ext cx="227106" cy="283865"/>
          </a:xfrm>
          <a:prstGeom prst="rect">
            <a:avLst/>
          </a:prstGeom>
          <a:noFill/>
          <a:ln/>
        </p:spPr>
        <p:txBody>
          <a:bodyPr wrap="none" lIns="0" tIns="0" rIns="0" bIns="0" rtlCol="0" anchor="ctr"/>
          <a:lstStyle/>
          <a:p>
            <a:pPr marL="0" indent="0" algn="ctr">
              <a:lnSpc>
                <a:spcPct val="100000"/>
              </a:lnSpc>
              <a:buNone/>
            </a:pPr>
            <a:r>
              <a:rPr lang="en-US" sz="1750" dirty="0">
                <a:solidFill>
                  <a:srgbClr val="DAD8E9"/>
                </a:solidFill>
                <a:latin typeface="Prompt Medium" pitchFamily="34" charset="0"/>
                <a:ea typeface="Prompt Medium" pitchFamily="34" charset="-122"/>
                <a:cs typeface="Prompt Medium" pitchFamily="34" charset="-120"/>
              </a:rPr>
              <a:t>3</a:t>
            </a:r>
            <a:endParaRPr lang="en-US" sz="1750" dirty="0"/>
          </a:p>
        </p:txBody>
      </p:sp>
      <p:sp>
        <p:nvSpPr>
          <p:cNvPr id="17" name="Text 15"/>
          <p:cNvSpPr/>
          <p:nvPr/>
        </p:nvSpPr>
        <p:spPr>
          <a:xfrm>
            <a:off x="720012" y="3210223"/>
            <a:ext cx="4523964" cy="236637"/>
          </a:xfrm>
          <a:prstGeom prst="rect">
            <a:avLst/>
          </a:prstGeom>
          <a:noFill/>
          <a:ln/>
        </p:spPr>
        <p:txBody>
          <a:bodyPr wrap="none" lIns="0" tIns="0" rIns="0" bIns="0" rtlCol="0" anchor="t"/>
          <a:lstStyle/>
          <a:p>
            <a:pPr marL="0" indent="0" algn="r">
              <a:lnSpc>
                <a:spcPct val="104000"/>
              </a:lnSpc>
              <a:buNone/>
            </a:pPr>
            <a:r>
              <a:rPr lang="en-US" sz="1450" dirty="0">
                <a:solidFill>
                  <a:srgbClr val="DAD8E9"/>
                </a:solidFill>
                <a:latin typeface="Prompt Medium" pitchFamily="34" charset="0"/>
                <a:ea typeface="Prompt Medium" pitchFamily="34" charset="-122"/>
                <a:cs typeface="Prompt Medium" pitchFamily="34" charset="-120"/>
              </a:rPr>
              <a:t>Mobile App</a:t>
            </a:r>
            <a:endParaRPr lang="en-US" sz="1450" dirty="0"/>
          </a:p>
        </p:txBody>
      </p:sp>
      <p:sp>
        <p:nvSpPr>
          <p:cNvPr id="18" name="Text 16"/>
          <p:cNvSpPr/>
          <p:nvPr/>
        </p:nvSpPr>
        <p:spPr>
          <a:xfrm>
            <a:off x="720012" y="3531493"/>
            <a:ext cx="4523964" cy="249138"/>
          </a:xfrm>
          <a:prstGeom prst="rect">
            <a:avLst/>
          </a:prstGeom>
          <a:noFill/>
          <a:ln/>
        </p:spPr>
        <p:txBody>
          <a:bodyPr wrap="none" lIns="0" tIns="0" rIns="0" bIns="0" rtlCol="0" anchor="t"/>
          <a:lstStyle/>
          <a:p>
            <a:pPr marL="0" indent="0" algn="r">
              <a:lnSpc>
                <a:spcPct val="122000"/>
              </a:lnSpc>
              <a:buNone/>
            </a:pPr>
            <a:r>
              <a:rPr lang="en-US" sz="1400" dirty="0">
                <a:solidFill>
                  <a:srgbClr val="DAD8E9"/>
                </a:solidFill>
                <a:latin typeface="Mukta Light" pitchFamily="34" charset="0"/>
                <a:ea typeface="Mukta Light" pitchFamily="34" charset="-122"/>
                <a:cs typeface="Mukta Light" pitchFamily="34" charset="-120"/>
              </a:rPr>
              <a:t>Native iOS and Android apps for enhanced mobile experience</a:t>
            </a:r>
            <a:r>
              <a:rPr lang="en-US" sz="1300" dirty="0">
                <a:solidFill>
                  <a:srgbClr val="DAD8E9"/>
                </a:solidFill>
                <a:latin typeface="Mukta Light" pitchFamily="34" charset="0"/>
                <a:ea typeface="Mukta Light" pitchFamily="34" charset="-122"/>
                <a:cs typeface="Mukta Light" pitchFamily="34" charset="-120"/>
              </a:rPr>
              <a:t>.</a:t>
            </a:r>
            <a:endParaRPr lang="en-US" sz="1300" dirty="0"/>
          </a:p>
        </p:txBody>
      </p:sp>
      <p:sp>
        <p:nvSpPr>
          <p:cNvPr id="19" name="Shape 17"/>
          <p:cNvSpPr/>
          <p:nvPr/>
        </p:nvSpPr>
        <p:spPr>
          <a:xfrm>
            <a:off x="6268434" y="4185642"/>
            <a:ext cx="511063" cy="19050"/>
          </a:xfrm>
          <a:prstGeom prst="roundRect">
            <a:avLst>
              <a:gd name="adj" fmla="val 49999"/>
            </a:avLst>
          </a:prstGeom>
          <a:solidFill>
            <a:srgbClr val="6D4562"/>
          </a:solidFill>
          <a:ln/>
        </p:spPr>
      </p:sp>
      <p:sp>
        <p:nvSpPr>
          <p:cNvPr id="20" name="Shape 18"/>
          <p:cNvSpPr/>
          <p:nvPr/>
        </p:nvSpPr>
        <p:spPr>
          <a:xfrm>
            <a:off x="5904211" y="4003576"/>
            <a:ext cx="383272" cy="383282"/>
          </a:xfrm>
          <a:prstGeom prst="roundRect">
            <a:avLst>
              <a:gd name="adj" fmla="val 18670"/>
            </a:avLst>
          </a:prstGeom>
          <a:solidFill>
            <a:srgbClr val="542C49"/>
          </a:solidFill>
          <a:ln w="6350">
            <a:solidFill>
              <a:srgbClr val="6D4562"/>
            </a:solidFill>
            <a:prstDash val="solid"/>
          </a:ln>
        </p:spPr>
      </p:sp>
      <p:sp>
        <p:nvSpPr>
          <p:cNvPr id="21" name="Text 19"/>
          <p:cNvSpPr/>
          <p:nvPr/>
        </p:nvSpPr>
        <p:spPr>
          <a:xfrm>
            <a:off x="5982245" y="4053235"/>
            <a:ext cx="227106" cy="283865"/>
          </a:xfrm>
          <a:prstGeom prst="rect">
            <a:avLst/>
          </a:prstGeom>
          <a:noFill/>
          <a:ln/>
        </p:spPr>
        <p:txBody>
          <a:bodyPr wrap="none" lIns="0" tIns="0" rIns="0" bIns="0" rtlCol="0" anchor="ctr"/>
          <a:lstStyle/>
          <a:p>
            <a:pPr marL="0" indent="0" algn="ctr">
              <a:lnSpc>
                <a:spcPct val="100000"/>
              </a:lnSpc>
              <a:buNone/>
            </a:pPr>
            <a:r>
              <a:rPr lang="en-US" sz="1750" dirty="0">
                <a:solidFill>
                  <a:srgbClr val="DAD8E9"/>
                </a:solidFill>
                <a:latin typeface="Prompt Medium" pitchFamily="34" charset="0"/>
                <a:ea typeface="Prompt Medium" pitchFamily="34" charset="-122"/>
                <a:cs typeface="Prompt Medium" pitchFamily="34" charset="-120"/>
              </a:rPr>
              <a:t>4</a:t>
            </a:r>
            <a:endParaRPr lang="en-US" sz="1750" dirty="0"/>
          </a:p>
        </p:txBody>
      </p:sp>
      <p:sp>
        <p:nvSpPr>
          <p:cNvPr id="22" name="Text 20"/>
          <p:cNvSpPr/>
          <p:nvPr/>
        </p:nvSpPr>
        <p:spPr>
          <a:xfrm>
            <a:off x="6947718" y="4062115"/>
            <a:ext cx="4523964" cy="236637"/>
          </a:xfrm>
          <a:prstGeom prst="rect">
            <a:avLst/>
          </a:prstGeom>
          <a:noFill/>
          <a:ln/>
        </p:spPr>
        <p:txBody>
          <a:bodyPr wrap="none" lIns="0" tIns="0" rIns="0" bIns="0" rtlCol="0" anchor="t"/>
          <a:lstStyle/>
          <a:p>
            <a:pPr marL="0" indent="0" algn="l">
              <a:lnSpc>
                <a:spcPct val="104000"/>
              </a:lnSpc>
              <a:buNone/>
            </a:pPr>
            <a:r>
              <a:rPr lang="en-US" sz="1450" dirty="0">
                <a:solidFill>
                  <a:srgbClr val="DAD8E9"/>
                </a:solidFill>
                <a:latin typeface="Prompt Medium" pitchFamily="34" charset="0"/>
                <a:ea typeface="Prompt Medium" pitchFamily="34" charset="-122"/>
                <a:cs typeface="Prompt Medium" pitchFamily="34" charset="-120"/>
              </a:rPr>
              <a:t>Streaming Integration</a:t>
            </a:r>
            <a:endParaRPr lang="en-US" sz="1450" dirty="0"/>
          </a:p>
        </p:txBody>
      </p:sp>
      <p:sp>
        <p:nvSpPr>
          <p:cNvPr id="23" name="Text 21"/>
          <p:cNvSpPr/>
          <p:nvPr/>
        </p:nvSpPr>
        <p:spPr>
          <a:xfrm>
            <a:off x="6947718" y="4383385"/>
            <a:ext cx="4523964" cy="249138"/>
          </a:xfrm>
          <a:prstGeom prst="rect">
            <a:avLst/>
          </a:prstGeom>
          <a:noFill/>
          <a:ln/>
        </p:spPr>
        <p:txBody>
          <a:bodyPr wrap="none" lIns="0" tIns="0" rIns="0" bIns="0" rtlCol="0" anchor="t"/>
          <a:lstStyle/>
          <a:p>
            <a:pPr marL="0" indent="0" algn="l">
              <a:lnSpc>
                <a:spcPct val="122000"/>
              </a:lnSpc>
              <a:buNone/>
            </a:pPr>
            <a:r>
              <a:rPr lang="en-US" sz="1400" dirty="0">
                <a:solidFill>
                  <a:srgbClr val="DAD8E9"/>
                </a:solidFill>
                <a:latin typeface="Mukta Light" pitchFamily="34" charset="0"/>
                <a:ea typeface="Mukta Light" pitchFamily="34" charset="-122"/>
                <a:cs typeface="Mukta Light" pitchFamily="34" charset="-120"/>
              </a:rPr>
              <a:t>Direct integration with Spotify, Apple Music, and YouTube Music.</a:t>
            </a:r>
            <a:endParaRPr lang="en-US" sz="1400" dirty="0"/>
          </a:p>
        </p:txBody>
      </p:sp>
      <p:sp>
        <p:nvSpPr>
          <p:cNvPr id="24" name="Shape 22"/>
          <p:cNvSpPr/>
          <p:nvPr/>
        </p:nvSpPr>
        <p:spPr>
          <a:xfrm>
            <a:off x="5412198" y="5037534"/>
            <a:ext cx="511063" cy="19050"/>
          </a:xfrm>
          <a:prstGeom prst="roundRect">
            <a:avLst>
              <a:gd name="adj" fmla="val 49999"/>
            </a:avLst>
          </a:prstGeom>
          <a:solidFill>
            <a:srgbClr val="6D4562"/>
          </a:solidFill>
          <a:ln/>
        </p:spPr>
      </p:sp>
      <p:sp>
        <p:nvSpPr>
          <p:cNvPr id="25" name="Shape 23"/>
          <p:cNvSpPr/>
          <p:nvPr/>
        </p:nvSpPr>
        <p:spPr>
          <a:xfrm>
            <a:off x="5904211" y="4855468"/>
            <a:ext cx="383272" cy="383282"/>
          </a:xfrm>
          <a:prstGeom prst="roundRect">
            <a:avLst>
              <a:gd name="adj" fmla="val 18670"/>
            </a:avLst>
          </a:prstGeom>
          <a:solidFill>
            <a:srgbClr val="542C49"/>
          </a:solidFill>
          <a:ln w="6350">
            <a:solidFill>
              <a:srgbClr val="6D4562"/>
            </a:solidFill>
            <a:prstDash val="solid"/>
          </a:ln>
        </p:spPr>
      </p:sp>
      <p:sp>
        <p:nvSpPr>
          <p:cNvPr id="26" name="Text 24"/>
          <p:cNvSpPr/>
          <p:nvPr/>
        </p:nvSpPr>
        <p:spPr>
          <a:xfrm>
            <a:off x="5982245" y="4905127"/>
            <a:ext cx="227106" cy="283865"/>
          </a:xfrm>
          <a:prstGeom prst="rect">
            <a:avLst/>
          </a:prstGeom>
          <a:noFill/>
          <a:ln/>
        </p:spPr>
        <p:txBody>
          <a:bodyPr wrap="none" lIns="0" tIns="0" rIns="0" bIns="0" rtlCol="0" anchor="ctr"/>
          <a:lstStyle/>
          <a:p>
            <a:pPr marL="0" indent="0" algn="ctr">
              <a:lnSpc>
                <a:spcPct val="100000"/>
              </a:lnSpc>
              <a:buNone/>
            </a:pPr>
            <a:r>
              <a:rPr lang="en-US" sz="1750" dirty="0">
                <a:solidFill>
                  <a:srgbClr val="DAD8E9"/>
                </a:solidFill>
                <a:latin typeface="Prompt Medium" pitchFamily="34" charset="0"/>
                <a:ea typeface="Prompt Medium" pitchFamily="34" charset="-122"/>
                <a:cs typeface="Prompt Medium" pitchFamily="34" charset="-120"/>
              </a:rPr>
              <a:t>5</a:t>
            </a:r>
            <a:endParaRPr lang="en-US" sz="1750" dirty="0"/>
          </a:p>
        </p:txBody>
      </p:sp>
      <p:sp>
        <p:nvSpPr>
          <p:cNvPr id="27" name="Text 25"/>
          <p:cNvSpPr/>
          <p:nvPr/>
        </p:nvSpPr>
        <p:spPr>
          <a:xfrm>
            <a:off x="720012" y="4914007"/>
            <a:ext cx="4523964" cy="236637"/>
          </a:xfrm>
          <a:prstGeom prst="rect">
            <a:avLst/>
          </a:prstGeom>
          <a:noFill/>
          <a:ln/>
        </p:spPr>
        <p:txBody>
          <a:bodyPr wrap="none" lIns="0" tIns="0" rIns="0" bIns="0" rtlCol="0" anchor="t"/>
          <a:lstStyle/>
          <a:p>
            <a:pPr marL="0" indent="0" algn="r">
              <a:lnSpc>
                <a:spcPct val="104000"/>
              </a:lnSpc>
              <a:buNone/>
            </a:pPr>
            <a:r>
              <a:rPr lang="en-US" sz="1450" dirty="0">
                <a:solidFill>
                  <a:srgbClr val="DAD8E9"/>
                </a:solidFill>
                <a:latin typeface="Prompt Medium" pitchFamily="34" charset="0"/>
                <a:ea typeface="Prompt Medium" pitchFamily="34" charset="-122"/>
                <a:cs typeface="Prompt Medium" pitchFamily="34" charset="-120"/>
              </a:rPr>
              <a:t>Offline Mode &amp; Gamification</a:t>
            </a:r>
            <a:endParaRPr lang="en-US" sz="1450" dirty="0"/>
          </a:p>
        </p:txBody>
      </p:sp>
      <p:sp>
        <p:nvSpPr>
          <p:cNvPr id="28" name="Text 26"/>
          <p:cNvSpPr/>
          <p:nvPr/>
        </p:nvSpPr>
        <p:spPr>
          <a:xfrm>
            <a:off x="720012" y="5235277"/>
            <a:ext cx="4523964" cy="498277"/>
          </a:xfrm>
          <a:prstGeom prst="rect">
            <a:avLst/>
          </a:prstGeom>
          <a:noFill/>
          <a:ln/>
        </p:spPr>
        <p:txBody>
          <a:bodyPr wrap="square" lIns="0" tIns="0" rIns="0" bIns="0" rtlCol="0" anchor="t">
            <a:normAutofit lnSpcReduction="10000"/>
          </a:bodyPr>
          <a:lstStyle/>
          <a:p>
            <a:pPr marL="0" indent="0" algn="r">
              <a:lnSpc>
                <a:spcPct val="122000"/>
              </a:lnSpc>
              <a:buNone/>
            </a:pPr>
            <a:r>
              <a:rPr lang="en-US" sz="1400" dirty="0">
                <a:solidFill>
                  <a:srgbClr val="DAD8E9"/>
                </a:solidFill>
                <a:latin typeface="Mukta Light" pitchFamily="34" charset="0"/>
                <a:ea typeface="Mukta Light" pitchFamily="34" charset="-122"/>
                <a:cs typeface="Mukta Light" pitchFamily="34" charset="-120"/>
              </a:rPr>
              <a:t>Download playlists and earn achievements, badges, and leaderboards</a:t>
            </a:r>
            <a:r>
              <a:rPr lang="en-US" sz="1300" dirty="0">
                <a:solidFill>
                  <a:srgbClr val="DAD8E9"/>
                </a:solidFill>
                <a:latin typeface="Mukta Light" pitchFamily="34" charset="0"/>
                <a:ea typeface="Mukta Light" pitchFamily="34" charset="-122"/>
                <a:cs typeface="Mukta Light" pitchFamily="34" charset="-120"/>
              </a:rPr>
              <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602064-9E8B-D6B7-D335-810744B259D0}"/>
              </a:ext>
            </a:extLst>
          </p:cNvPr>
          <p:cNvSpPr txBox="1"/>
          <p:nvPr/>
        </p:nvSpPr>
        <p:spPr>
          <a:xfrm>
            <a:off x="335800" y="1822261"/>
            <a:ext cx="7172989" cy="1569660"/>
          </a:xfrm>
          <a:prstGeom prst="rect">
            <a:avLst/>
          </a:prstGeom>
          <a:noFill/>
        </p:spPr>
        <p:txBody>
          <a:bodyPr wrap="none" rtlCol="0">
            <a:spAutoFit/>
          </a:bodyPr>
          <a:lstStyle/>
          <a:p>
            <a:r>
              <a:rPr lang="en-US" sz="9600" dirty="0">
                <a:solidFill>
                  <a:schemeClr val="bg1"/>
                </a:solidFill>
                <a:latin typeface="Arial Black" panose="020B0A04020102020204" pitchFamily="34" charset="0"/>
              </a:rPr>
              <a:t>Thank you</a:t>
            </a:r>
            <a:endParaRPr lang="en-IN" sz="9600" dirty="0">
              <a:solidFill>
                <a:schemeClr val="bg1"/>
              </a:solidFill>
              <a:latin typeface="Arial Black" panose="020B0A04020102020204" pitchFamily="34" charset="0"/>
            </a:endParaRPr>
          </a:p>
        </p:txBody>
      </p:sp>
      <p:pic>
        <p:nvPicPr>
          <p:cNvPr id="4" name="Picture 3">
            <a:extLst>
              <a:ext uri="{FF2B5EF4-FFF2-40B4-BE49-F238E27FC236}">
                <a16:creationId xmlns:a16="http://schemas.microsoft.com/office/drawing/2014/main" id="{389EF2CD-815C-B35C-D835-737599AC4E2E}"/>
              </a:ext>
            </a:extLst>
          </p:cNvPr>
          <p:cNvPicPr>
            <a:picLocks noChangeAspect="1"/>
          </p:cNvPicPr>
          <p:nvPr/>
        </p:nvPicPr>
        <p:blipFill>
          <a:blip r:embed="rId2"/>
          <a:stretch>
            <a:fillRect/>
          </a:stretch>
        </p:blipFill>
        <p:spPr>
          <a:xfrm>
            <a:off x="7839407" y="1349774"/>
            <a:ext cx="3924640" cy="3901778"/>
          </a:xfrm>
          <a:prstGeom prst="rect">
            <a:avLst/>
          </a:prstGeom>
        </p:spPr>
      </p:pic>
    </p:spTree>
    <p:extLst>
      <p:ext uri="{BB962C8B-B14F-4D97-AF65-F5344CB8AC3E}">
        <p14:creationId xmlns:p14="http://schemas.microsoft.com/office/powerpoint/2010/main" val="39287868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638</TotalTime>
  <Words>882</Words>
  <Application>Microsoft Office PowerPoint</Application>
  <PresentationFormat>Widescreen</PresentationFormat>
  <Paragraphs>135</Paragraphs>
  <Slides>12</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Bookman Old Style</vt:lpstr>
      <vt:lpstr>Aptos</vt:lpstr>
      <vt:lpstr>Prompt Light</vt:lpstr>
      <vt:lpstr>Mukta Light</vt:lpstr>
      <vt:lpstr>Mukta Bold</vt:lpstr>
      <vt:lpstr>Arial</vt:lpstr>
      <vt:lpstr>Bahnschrift Light</vt:lpstr>
      <vt:lpstr>Prompt Medium</vt:lpstr>
      <vt:lpstr>Arial Black</vt:lpstr>
      <vt:lpstr>Microsoft YaHei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SREEMAYI</dc:creator>
  <cp:lastModifiedBy>sreemayi.baratam@gmail.com</cp:lastModifiedBy>
  <cp:revision>16</cp:revision>
  <dcterms:created xsi:type="dcterms:W3CDTF">2026-09-24T06:05:10Z</dcterms:created>
  <dcterms:modified xsi:type="dcterms:W3CDTF">2026-10-14T03:13:04Z</dcterms:modified>
</cp:coreProperties>
</file>